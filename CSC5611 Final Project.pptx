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256" r:id="rId2"/>
    <p:sldId id="282" r:id="rId3"/>
    <p:sldId id="288" r:id="rId4"/>
    <p:sldId id="261" r:id="rId5"/>
    <p:sldId id="265" r:id="rId6"/>
    <p:sldId id="277" r:id="rId7"/>
    <p:sldId id="283" r:id="rId8"/>
    <p:sldId id="286" r:id="rId9"/>
    <p:sldId id="287" r:id="rId10"/>
    <p:sldId id="284" r:id="rId11"/>
    <p:sldId id="285" r:id="rId12"/>
    <p:sldId id="280" r:id="rId13"/>
  </p:sldIdLst>
  <p:sldSz cx="18288000" cy="10287000"/>
  <p:notesSz cx="6858000" cy="9144000"/>
  <p:embeddedFontLst>
    <p:embeddedFont>
      <p:font typeface="Cambria Math" panose="02040503050406030204" pitchFamily="18" charset="0"/>
      <p:regular r:id="rId15"/>
    </p:embeddedFont>
    <p:embeddedFont>
      <p:font typeface="Radley"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519344-A59B-413E-B5DB-A85B0B8AB366}" v="1510" dt="2026-04-30T22:29:50.618"/>
    <p1510:client id="{6CEE6BCB-D1C4-41A6-95FA-553C759F9BB3}" v="138" dt="2026-04-30T20:02:15.779"/>
    <p1510:client id="{77A679DD-1813-4D10-B359-FC8C7147E477}" v="413" dt="2026-04-30T17:00:24.762"/>
    <p1510:client id="{AC6A64E9-CE60-4EAC-A329-17188D4309D9}" v="5004" dt="2026-04-30T22:25:53.9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294"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73F309-D3DF-4F4A-8730-02B627D0C536}" type="datetimeFigureOut">
              <a:rPr lang="en-US" smtClean="0"/>
              <a:t>9/18/2026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EEEA8D-04C4-4882-B2EA-EA9E422CE3AF}" type="slidenum">
              <a:rPr lang="en-US" smtClean="0"/>
              <a:t>‹#›</a:t>
            </a:fld>
            <a:endParaRPr lang="en-US"/>
          </a:p>
        </p:txBody>
      </p:sp>
    </p:spTree>
    <p:extLst>
      <p:ext uri="{BB962C8B-B14F-4D97-AF65-F5344CB8AC3E}">
        <p14:creationId xmlns:p14="http://schemas.microsoft.com/office/powerpoint/2010/main" val="720229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Most deep learning training uses a fixed batch size throughout optimization. But the question we ask here is: what if that wasn’t the case?</a:t>
            </a:r>
          </a:p>
          <a:p>
            <a:r>
              <a:rPr lang="en-US"/>
              <a:t>Deep learning is already loosely biologically inspired—neurons are modeled after biological neurons in the brain. So we extend that analogy and ask: what if batch size also reflected how humans actually learn?</a:t>
            </a:r>
          </a:p>
          <a:p>
            <a:r>
              <a:rPr lang="en-US"/>
              <a:t>In humans, learning isn’t constant. We have periods of active exploration when we’re exposed to new information, and periods of consolidation during sleep where memories are stabilized.</a:t>
            </a:r>
          </a:p>
          <a:p>
            <a:r>
              <a:rPr lang="en-US"/>
              <a:t>We model this by varying batch size over time: small batch sizes represent exploration, introducing more noise and flexibility in learning, while large batch sizes represent sleep-like phases that reduce noise and stabilize what has been learned.</a:t>
            </a:r>
          </a:p>
          <a:p>
            <a:r>
              <a:rPr lang="en-US"/>
              <a:t>So instead of a fixed training regime, we alternate between exploration and stabilization, inspired directly by how biological learning works.</a:t>
            </a:r>
          </a:p>
          <a:p>
            <a:endParaRPr lang="en-US"/>
          </a:p>
        </p:txBody>
      </p:sp>
      <p:sp>
        <p:nvSpPr>
          <p:cNvPr id="4" name="Slide Number Placeholder 3"/>
          <p:cNvSpPr>
            <a:spLocks noGrp="1"/>
          </p:cNvSpPr>
          <p:nvPr>
            <p:ph type="sldNum" sz="quarter" idx="5"/>
          </p:nvPr>
        </p:nvSpPr>
        <p:spPr/>
        <p:txBody>
          <a:bodyPr/>
          <a:lstStyle/>
          <a:p>
            <a:fld id="{49EEEA8D-04C4-4882-B2EA-EA9E422CE3AF}" type="slidenum">
              <a:rPr lang="en-US" smtClean="0"/>
              <a:t>2</a:t>
            </a:fld>
            <a:endParaRPr lang="en-US"/>
          </a:p>
        </p:txBody>
      </p:sp>
    </p:spTree>
    <p:extLst>
      <p:ext uri="{BB962C8B-B14F-4D97-AF65-F5344CB8AC3E}">
        <p14:creationId xmlns:p14="http://schemas.microsoft.com/office/powerpoint/2010/main" val="1129249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3E492-9BBA-3E41-2A2F-2BDB36F02F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5920B7-A831-0056-8ADD-0B43C8C425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98B9AF-E9E7-5460-8A54-15F11498C5F6}"/>
              </a:ext>
            </a:extLst>
          </p:cNvPr>
          <p:cNvSpPr>
            <a:spLocks noGrp="1"/>
          </p:cNvSpPr>
          <p:nvPr>
            <p:ph type="body" idx="1"/>
          </p:nvPr>
        </p:nvSpPr>
        <p:spPr/>
        <p:txBody>
          <a:bodyPr/>
          <a:lstStyle/>
          <a:p>
            <a:r>
              <a:rPr lang="en-US"/>
              <a:t>This slide summarizes findings from Smith et al. and Park et al. showing that instead of always decaying the learning rate, we can instead increase the batch size. This is because stochastic gradient descent noise scales roughly with this ratio of batch size to learning rate. This basically means that it isn’t these literal values that matter, but their ratio and the amount of noise the introduce.</a:t>
            </a:r>
          </a:p>
          <a:p>
            <a:r>
              <a:rPr lang="en-US"/>
              <a:t>In our sleep-inspired batch size model, we directly use this idea. We modulate batch size over time to control optimization noise. During ‘wake’ phases, modeling after when we are awake during the day, we use smaller batches to increase noise and exploration, again similar to us learning new things during the day. Then, during ‘sleep’ phases, we increase the batch size to reduce noise and stabilize representations of the things learned during the day as what traditionally occurs when we are sleeping.</a:t>
            </a:r>
          </a:p>
          <a:p>
            <a:r>
              <a:rPr lang="en-US"/>
              <a:t>This basically means that we’re taking the relationship shown here, in which noise is proportional to batch size over learning rate, and we are using it as the basis for our biologically or sleep-inspired training schedule.</a:t>
            </a:r>
          </a:p>
          <a:p>
            <a:endParaRPr lang="en-US"/>
          </a:p>
        </p:txBody>
      </p:sp>
      <p:sp>
        <p:nvSpPr>
          <p:cNvPr id="4" name="Slide Number Placeholder 3">
            <a:extLst>
              <a:ext uri="{FF2B5EF4-FFF2-40B4-BE49-F238E27FC236}">
                <a16:creationId xmlns:a16="http://schemas.microsoft.com/office/drawing/2014/main" id="{A90F80A3-B5B2-7DAE-F3F9-432D565E6E85}"/>
              </a:ext>
            </a:extLst>
          </p:cNvPr>
          <p:cNvSpPr>
            <a:spLocks noGrp="1"/>
          </p:cNvSpPr>
          <p:nvPr>
            <p:ph type="sldNum" sz="quarter" idx="5"/>
          </p:nvPr>
        </p:nvSpPr>
        <p:spPr/>
        <p:txBody>
          <a:bodyPr/>
          <a:lstStyle/>
          <a:p>
            <a:fld id="{49EEEA8D-04C4-4882-B2EA-EA9E422CE3AF}" type="slidenum">
              <a:rPr lang="en-US" smtClean="0"/>
              <a:t>3</a:t>
            </a:fld>
            <a:endParaRPr lang="en-US"/>
          </a:p>
        </p:txBody>
      </p:sp>
    </p:spTree>
    <p:extLst>
      <p:ext uri="{BB962C8B-B14F-4D97-AF65-F5344CB8AC3E}">
        <p14:creationId xmlns:p14="http://schemas.microsoft.com/office/powerpoint/2010/main" val="37312649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evaluate our sleep-inspired batch size approach across three standard benchmarks: Iris, MNIST-style handwritten digits (often referred to as the Numbers dataset) and CIFAR-100.</a:t>
            </a:r>
          </a:p>
          <a:p>
            <a:r>
              <a:rPr lang="en-US"/>
              <a:t>Iris is a small, structured dataset that lets us test whether the method works in simple, low-dimensional settings where decision boundaries are relatively clean.</a:t>
            </a:r>
          </a:p>
          <a:p>
            <a:r>
              <a:rPr lang="en-US"/>
              <a:t>The Numbers dataset, like MNIST, increases complexity by introducing high-dimensional image data of handwritten digits, where the model has to learn more abstract visual features.</a:t>
            </a:r>
          </a:p>
          <a:p>
            <a:r>
              <a:rPr lang="en-US"/>
              <a:t>Finally, CIFAR-100 is significantly more challenging, with 100 object classes and natural images, which tests whether our approach scales to complex, noisy real-world data.</a:t>
            </a:r>
          </a:p>
          <a:p>
            <a:r>
              <a:rPr lang="en-US"/>
              <a:t>Across these datasets, we use them to evaluate whether dynamically adjusting batch size (our sleep-inspired mechanism) can consistently improve learning stability and generalization across increasing levels of task difficulty.</a:t>
            </a:r>
          </a:p>
          <a:p>
            <a:endParaRPr lang="en-US"/>
          </a:p>
        </p:txBody>
      </p:sp>
      <p:sp>
        <p:nvSpPr>
          <p:cNvPr id="4" name="Slide Number Placeholder 3"/>
          <p:cNvSpPr>
            <a:spLocks noGrp="1"/>
          </p:cNvSpPr>
          <p:nvPr>
            <p:ph type="sldNum" sz="quarter" idx="5"/>
          </p:nvPr>
        </p:nvSpPr>
        <p:spPr/>
        <p:txBody>
          <a:bodyPr/>
          <a:lstStyle/>
          <a:p>
            <a:fld id="{49EEEA8D-04C4-4882-B2EA-EA9E422CE3AF}" type="slidenum">
              <a:rPr lang="en-US" smtClean="0"/>
              <a:t>4</a:t>
            </a:fld>
            <a:endParaRPr lang="en-US"/>
          </a:p>
        </p:txBody>
      </p:sp>
    </p:spTree>
    <p:extLst>
      <p:ext uri="{BB962C8B-B14F-4D97-AF65-F5344CB8AC3E}">
        <p14:creationId xmlns:p14="http://schemas.microsoft.com/office/powerpoint/2010/main" val="42570855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Lets take a look at what we are actually seeing in the CIFAR-100 dataset</a:t>
            </a:r>
          </a:p>
          <a:p>
            <a:endParaRPr lang="en-US"/>
          </a:p>
          <a:p>
            <a:r>
              <a:rPr lang="en-US"/>
              <a:t>We chose this dataset to do a deeper investigation because it is pretty complex and it will take a lot of epochs in order to actually converge to a steady score in most cases.</a:t>
            </a:r>
          </a:p>
          <a:p>
            <a:r>
              <a:rPr lang="en-US"/>
              <a:t>We generated our batch schedule with an algorithm -&gt; it is a fractal pattern (‘ruler pattern’) that should nicely give us a large batch size in the middle of training, and then smaller versions of itself every time you halve it. This gives us small batch sizes interspersed with larger ones.</a:t>
            </a:r>
          </a:p>
          <a:p>
            <a:endParaRPr lang="en-US"/>
          </a:p>
          <a:p>
            <a:r>
              <a:rPr lang="en-US"/>
              <a:t>The baselines here are just the average of the whole fractal sequence.</a:t>
            </a:r>
          </a:p>
          <a:p>
            <a:r>
              <a:rPr lang="en-US"/>
              <a:t>What I see when I look at this is that our training curve follows the baseline (average) quite closely, however it surpasses it in validation accuracy in both of these experiments. This is really interesting to me. We can see that the small constant batch size beats everything, which implies we need more hyperparameter tuning for our sleep validation to win out. </a:t>
            </a:r>
          </a:p>
          <a:p>
            <a:endParaRPr lang="en-US"/>
          </a:p>
          <a:p>
            <a:r>
              <a:rPr lang="en-US"/>
              <a:t>We will include this in our future work, but since these took a while to run, we ran out of time tweaking it, but I think the success with the validation is key.</a:t>
            </a:r>
          </a:p>
          <a:p>
            <a:r>
              <a:rPr lang="en-US"/>
              <a:t>We can also see that slapping our schedule onto the Adam optimizer performed the worst. This experiment was out of curiosity, but was ultimately set to fail because Adam updates learning rate after every batch so it would require some tuning to theoretically be more effective.</a:t>
            </a:r>
          </a:p>
        </p:txBody>
      </p:sp>
      <p:sp>
        <p:nvSpPr>
          <p:cNvPr id="4" name="Slide Number Placeholder 3"/>
          <p:cNvSpPr>
            <a:spLocks noGrp="1"/>
          </p:cNvSpPr>
          <p:nvPr>
            <p:ph type="sldNum" sz="quarter" idx="5"/>
          </p:nvPr>
        </p:nvSpPr>
        <p:spPr/>
        <p:txBody>
          <a:bodyPr/>
          <a:lstStyle/>
          <a:p>
            <a:fld id="{49EEEA8D-04C4-4882-B2EA-EA9E422CE3AF}" type="slidenum">
              <a:rPr lang="en-US" smtClean="0"/>
              <a:t>8</a:t>
            </a:fld>
            <a:endParaRPr lang="en-US"/>
          </a:p>
        </p:txBody>
      </p:sp>
    </p:spTree>
    <p:extLst>
      <p:ext uri="{BB962C8B-B14F-4D97-AF65-F5344CB8AC3E}">
        <p14:creationId xmlns:p14="http://schemas.microsoft.com/office/powerpoint/2010/main" val="23960691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 </a:t>
            </a:r>
            <a:r>
              <a:rPr lang="en-US" err="1"/>
              <a:t>heres</a:t>
            </a:r>
            <a:r>
              <a:rPr lang="en-US"/>
              <a:t> our metrics for the two tests from the last slide</a:t>
            </a:r>
          </a:p>
          <a:p>
            <a:endParaRPr lang="en-US"/>
          </a:p>
          <a:p>
            <a:r>
              <a:rPr lang="en-US"/>
              <a:t>We see that for the first schedule that our model performs better than the baseline on the test set.</a:t>
            </a:r>
          </a:p>
          <a:p>
            <a:endParaRPr lang="en-US"/>
          </a:p>
          <a:p>
            <a:r>
              <a:rPr lang="en-US"/>
              <a:t>For the second test, Despite validation being higher, the test is about half a percent better than our model. This exposes that more work is definitely required and it is difficult to make 100% conclusions</a:t>
            </a:r>
          </a:p>
        </p:txBody>
      </p:sp>
      <p:sp>
        <p:nvSpPr>
          <p:cNvPr id="4" name="Slide Number Placeholder 3"/>
          <p:cNvSpPr>
            <a:spLocks noGrp="1"/>
          </p:cNvSpPr>
          <p:nvPr>
            <p:ph type="sldNum" sz="quarter" idx="5"/>
          </p:nvPr>
        </p:nvSpPr>
        <p:spPr/>
        <p:txBody>
          <a:bodyPr/>
          <a:lstStyle/>
          <a:p>
            <a:fld id="{49EEEA8D-04C4-4882-B2EA-EA9E422CE3AF}" type="slidenum">
              <a:rPr lang="en-US" smtClean="0"/>
              <a:t>9</a:t>
            </a:fld>
            <a:endParaRPr lang="en-US"/>
          </a:p>
        </p:txBody>
      </p:sp>
    </p:spTree>
    <p:extLst>
      <p:ext uri="{BB962C8B-B14F-4D97-AF65-F5344CB8AC3E}">
        <p14:creationId xmlns:p14="http://schemas.microsoft.com/office/powerpoint/2010/main" val="27785214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However, this is what we CAN conclude.</a:t>
            </a:r>
          </a:p>
          <a:p>
            <a:endParaRPr lang="en-US"/>
          </a:p>
          <a:p>
            <a:r>
              <a:rPr lang="en-US"/>
              <a:t>Variable batch sizing like ours can improve a model over a fixed batch. </a:t>
            </a:r>
          </a:p>
          <a:p>
            <a:endParaRPr lang="en-US"/>
          </a:p>
          <a:p>
            <a:r>
              <a:rPr lang="en-US"/>
              <a:t>The sizes would need a bit of tuning in line with the optimizer and dataset – it is a slightly brittle in that regard</a:t>
            </a:r>
          </a:p>
          <a:p>
            <a:endParaRPr lang="en-US"/>
          </a:p>
          <a:p>
            <a:r>
              <a:rPr lang="en-US"/>
              <a:t>The small batch size might matter more than the sleep itself</a:t>
            </a:r>
          </a:p>
          <a:p>
            <a:endParaRPr lang="en-US"/>
          </a:p>
          <a:p>
            <a:r>
              <a:rPr lang="en-US"/>
              <a:t>Ultimately our results are inconclusive. We cannot say without more testing that our sleep-inspired batch scheduling is beneficial, but we can say that it SEEMS that it improves validation and therefore overfitting in training.</a:t>
            </a:r>
          </a:p>
        </p:txBody>
      </p:sp>
      <p:sp>
        <p:nvSpPr>
          <p:cNvPr id="4" name="Slide Number Placeholder 3"/>
          <p:cNvSpPr>
            <a:spLocks noGrp="1"/>
          </p:cNvSpPr>
          <p:nvPr>
            <p:ph type="sldNum" sz="quarter" idx="5"/>
          </p:nvPr>
        </p:nvSpPr>
        <p:spPr/>
        <p:txBody>
          <a:bodyPr/>
          <a:lstStyle/>
          <a:p>
            <a:fld id="{49EEEA8D-04C4-4882-B2EA-EA9E422CE3AF}" type="slidenum">
              <a:rPr lang="en-US" smtClean="0"/>
              <a:t>10</a:t>
            </a:fld>
            <a:endParaRPr lang="en-US"/>
          </a:p>
        </p:txBody>
      </p:sp>
    </p:spTree>
    <p:extLst>
      <p:ext uri="{BB962C8B-B14F-4D97-AF65-F5344CB8AC3E}">
        <p14:creationId xmlns:p14="http://schemas.microsoft.com/office/powerpoint/2010/main" val="34246169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t>We would like to run more experiments with our architecture – A big question is if we get the optimal constant batch size, will the sleep schedule still outperform?</a:t>
            </a:r>
          </a:p>
          <a:p>
            <a:pPr marL="171450" indent="-171450">
              <a:buFontTx/>
              <a:buChar char="-"/>
            </a:pPr>
            <a:r>
              <a:rPr lang="en-US"/>
              <a:t>Equalize the number of gradient updates across</a:t>
            </a:r>
          </a:p>
          <a:p>
            <a:pPr marL="0" indent="0">
              <a:buFontTx/>
              <a:buNone/>
            </a:pPr>
            <a:endParaRPr lang="en-US"/>
          </a:p>
          <a:p>
            <a:pPr marL="0" indent="0">
              <a:buFontTx/>
              <a:buNone/>
            </a:pPr>
            <a:r>
              <a:rPr lang="en-US"/>
              <a:t>Run for Longer</a:t>
            </a:r>
          </a:p>
          <a:p>
            <a:pPr marL="171450" indent="-171450">
              <a:buFontTx/>
              <a:buChar char="-"/>
            </a:pPr>
            <a:r>
              <a:rPr lang="en-US"/>
              <a:t>How does our schedule affect training over a long time?</a:t>
            </a:r>
          </a:p>
          <a:p>
            <a:pPr marL="0" indent="0">
              <a:buFontTx/>
              <a:buNone/>
            </a:pPr>
            <a:endParaRPr lang="en-US"/>
          </a:p>
          <a:p>
            <a:pPr marL="0" indent="0">
              <a:buFontTx/>
              <a:buNone/>
            </a:pPr>
            <a:r>
              <a:rPr lang="en-US"/>
              <a:t>Try on a slightly simpler dataset</a:t>
            </a:r>
          </a:p>
          <a:p>
            <a:pPr marL="171450" indent="-171450">
              <a:buFontTx/>
              <a:buChar char="-"/>
            </a:pPr>
            <a:r>
              <a:rPr lang="en-US"/>
              <a:t>May make results more deterministic</a:t>
            </a:r>
          </a:p>
          <a:p>
            <a:pPr marL="0" indent="0">
              <a:buFontTx/>
              <a:buNone/>
            </a:pPr>
            <a:endParaRPr lang="en-US"/>
          </a:p>
          <a:p>
            <a:pPr marL="0" indent="0">
              <a:buFontTx/>
              <a:buNone/>
            </a:pPr>
            <a:r>
              <a:rPr lang="en-US"/>
              <a:t>Test more schedules and architectures</a:t>
            </a:r>
          </a:p>
          <a:p>
            <a:pPr marL="0" indent="0">
              <a:buFontTx/>
              <a:buNone/>
            </a:pPr>
            <a:r>
              <a:rPr lang="en-US"/>
              <a:t>- Is our strategy generalizable?</a:t>
            </a:r>
          </a:p>
          <a:p>
            <a:endParaRPr lang="en-US"/>
          </a:p>
          <a:p>
            <a:r>
              <a:rPr lang="en-US"/>
              <a:t>Tune LR jointly with batch size</a:t>
            </a:r>
          </a:p>
          <a:p>
            <a:pPr marL="171450" indent="-171450">
              <a:buFontTx/>
              <a:buChar char="-"/>
            </a:pPr>
            <a:r>
              <a:rPr lang="en-US"/>
              <a:t>Figure out how to make it work with Adam/optimizers </a:t>
            </a:r>
          </a:p>
          <a:p>
            <a:pPr marL="0" indent="0">
              <a:buFontTx/>
              <a:buNone/>
            </a:pPr>
            <a:endParaRPr lang="en-US"/>
          </a:p>
          <a:p>
            <a:pPr marL="0" indent="0">
              <a:buFontTx/>
              <a:buNone/>
            </a:pPr>
            <a:endParaRPr lang="en-US"/>
          </a:p>
          <a:p>
            <a:endParaRPr lang="en-US"/>
          </a:p>
        </p:txBody>
      </p:sp>
      <p:sp>
        <p:nvSpPr>
          <p:cNvPr id="4" name="Slide Number Placeholder 3"/>
          <p:cNvSpPr>
            <a:spLocks noGrp="1"/>
          </p:cNvSpPr>
          <p:nvPr>
            <p:ph type="sldNum" sz="quarter" idx="5"/>
          </p:nvPr>
        </p:nvSpPr>
        <p:spPr/>
        <p:txBody>
          <a:bodyPr/>
          <a:lstStyle/>
          <a:p>
            <a:fld id="{49EEEA8D-04C4-4882-B2EA-EA9E422CE3AF}" type="slidenum">
              <a:rPr lang="en-US" smtClean="0"/>
              <a:t>11</a:t>
            </a:fld>
            <a:endParaRPr lang="en-US"/>
          </a:p>
        </p:txBody>
      </p:sp>
    </p:spTree>
    <p:extLst>
      <p:ext uri="{BB962C8B-B14F-4D97-AF65-F5344CB8AC3E}">
        <p14:creationId xmlns:p14="http://schemas.microsoft.com/office/powerpoint/2010/main" val="24382365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gif"/><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4.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5.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5.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9.svg"/></Relationships>
</file>

<file path=ppt/slides/_rels/slide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1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1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9.svg"/></Relationships>
</file>

<file path=ppt/slides/_rels/slide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21.svg"/><Relationship Id="rId4" Type="http://schemas.openxmlformats.org/officeDocument/2006/relationships/image" Target="../media/image20.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F0A74"/>
        </a:solidFill>
        <a:effectLst/>
      </p:bgPr>
    </p:bg>
    <p:spTree>
      <p:nvGrpSpPr>
        <p:cNvPr id="1" name=""/>
        <p:cNvGrpSpPr/>
        <p:nvPr/>
      </p:nvGrpSpPr>
      <p:grpSpPr>
        <a:xfrm>
          <a:off x="0" y="0"/>
          <a:ext cx="0" cy="0"/>
          <a:chOff x="0" y="0"/>
          <a:chExt cx="0" cy="0"/>
        </a:xfrm>
      </p:grpSpPr>
      <p:sp>
        <p:nvSpPr>
          <p:cNvPr id="2" name="Freeform 2"/>
          <p:cNvSpPr/>
          <p:nvPr/>
        </p:nvSpPr>
        <p:spPr>
          <a:xfrm>
            <a:off x="-1169455" y="-657819"/>
            <a:ext cx="20626910" cy="11602637"/>
          </a:xfrm>
          <a:custGeom>
            <a:avLst/>
            <a:gdLst/>
            <a:ahLst/>
            <a:cxnLst/>
            <a:rect l="l" t="t" r="r" b="b"/>
            <a:pathLst>
              <a:path w="20626910" h="11602637">
                <a:moveTo>
                  <a:pt x="0" y="0"/>
                </a:moveTo>
                <a:lnTo>
                  <a:pt x="20626910" y="0"/>
                </a:lnTo>
                <a:lnTo>
                  <a:pt x="20626910" y="11602638"/>
                </a:lnTo>
                <a:lnTo>
                  <a:pt x="0" y="1160263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pic>
        <p:nvPicPr>
          <p:cNvPr id="3" name="Picture 3"/>
          <p:cNvPicPr>
            <a:picLocks noChangeAspect="1"/>
          </p:cNvPicPr>
          <p:nvPr/>
        </p:nvPicPr>
        <p:blipFill>
          <a:blip r:embed="rId3">
            <a:alphaModFix amt="19999"/>
          </a:blip>
          <a:srcRect/>
          <a:stretch>
            <a:fillRect/>
          </a:stretch>
        </p:blipFill>
        <p:spPr>
          <a:xfrm rot="-1031805">
            <a:off x="-2878749" y="-7893495"/>
            <a:ext cx="19028773" cy="10288223"/>
          </a:xfrm>
          <a:prstGeom prst="rect">
            <a:avLst/>
          </a:prstGeom>
        </p:spPr>
      </p:pic>
      <p:sp>
        <p:nvSpPr>
          <p:cNvPr id="4" name="Freeform 4"/>
          <p:cNvSpPr/>
          <p:nvPr/>
        </p:nvSpPr>
        <p:spPr>
          <a:xfrm rot="-10800000">
            <a:off x="-151839" y="-1134685"/>
            <a:ext cx="18564202" cy="6278185"/>
          </a:xfrm>
          <a:custGeom>
            <a:avLst/>
            <a:gdLst/>
            <a:ahLst/>
            <a:cxnLst/>
            <a:rect l="l" t="t" r="r" b="b"/>
            <a:pathLst>
              <a:path w="18564202" h="6278185">
                <a:moveTo>
                  <a:pt x="0" y="0"/>
                </a:moveTo>
                <a:lnTo>
                  <a:pt x="18564201" y="0"/>
                </a:lnTo>
                <a:lnTo>
                  <a:pt x="18564201" y="6278185"/>
                </a:lnTo>
                <a:lnTo>
                  <a:pt x="0" y="627818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pic>
        <p:nvPicPr>
          <p:cNvPr id="5" name="Picture 5"/>
          <p:cNvPicPr>
            <a:picLocks noChangeAspect="1"/>
          </p:cNvPicPr>
          <p:nvPr/>
        </p:nvPicPr>
        <p:blipFill>
          <a:blip r:embed="rId5">
            <a:alphaModFix amt="16000"/>
          </a:blip>
          <a:srcRect/>
          <a:stretch>
            <a:fillRect/>
          </a:stretch>
        </p:blipFill>
        <p:spPr>
          <a:xfrm rot="104554">
            <a:off x="-142306" y="-4701294"/>
            <a:ext cx="18913340" cy="9393626"/>
          </a:xfrm>
          <a:prstGeom prst="rect">
            <a:avLst/>
          </a:prstGeom>
        </p:spPr>
      </p:pic>
      <p:grpSp>
        <p:nvGrpSpPr>
          <p:cNvPr id="6" name="Group 6"/>
          <p:cNvGrpSpPr/>
          <p:nvPr/>
        </p:nvGrpSpPr>
        <p:grpSpPr>
          <a:xfrm>
            <a:off x="2935877" y="4698350"/>
            <a:ext cx="12416246" cy="4264088"/>
            <a:chOff x="-408656" y="-200296"/>
            <a:chExt cx="16554995" cy="5685450"/>
          </a:xfrm>
        </p:grpSpPr>
        <p:sp>
          <p:nvSpPr>
            <p:cNvPr id="7" name="TextBox 7"/>
            <p:cNvSpPr txBox="1"/>
            <p:nvPr/>
          </p:nvSpPr>
          <p:spPr>
            <a:xfrm>
              <a:off x="-408656" y="-200296"/>
              <a:ext cx="16554995" cy="4836794"/>
            </a:xfrm>
            <a:prstGeom prst="rect">
              <a:avLst/>
            </a:prstGeom>
          </p:spPr>
          <p:txBody>
            <a:bodyPr wrap="square" lIns="0" tIns="0" rIns="0" bIns="0" rtlCol="0" anchor="t">
              <a:spAutoFit/>
            </a:bodyPr>
            <a:lstStyle/>
            <a:p>
              <a:pPr algn="ctr">
                <a:lnSpc>
                  <a:spcPts val="14560"/>
                </a:lnSpc>
                <a:spcBef>
                  <a:spcPct val="0"/>
                </a:spcBef>
              </a:pPr>
              <a:r>
                <a:rPr lang="en-US" sz="9600">
                  <a:solidFill>
                    <a:srgbClr val="FFFFFF"/>
                  </a:solidFill>
                  <a:latin typeface="Radley"/>
                  <a:ea typeface="Radley"/>
                  <a:cs typeface="Radley"/>
                  <a:sym typeface="Radley"/>
                </a:rPr>
                <a:t>Sleep-Inspired Batch Learning</a:t>
              </a:r>
            </a:p>
          </p:txBody>
        </p:sp>
        <p:sp>
          <p:nvSpPr>
            <p:cNvPr id="8" name="TextBox 8"/>
            <p:cNvSpPr txBox="1"/>
            <p:nvPr/>
          </p:nvSpPr>
          <p:spPr>
            <a:xfrm>
              <a:off x="-2904" y="4752046"/>
              <a:ext cx="15743489" cy="733108"/>
            </a:xfrm>
            <a:prstGeom prst="rect">
              <a:avLst/>
            </a:prstGeom>
          </p:spPr>
          <p:txBody>
            <a:bodyPr lIns="0" tIns="0" rIns="0" bIns="0" rtlCol="0" anchor="t">
              <a:spAutoFit/>
            </a:bodyPr>
            <a:lstStyle/>
            <a:p>
              <a:pPr algn="ctr">
                <a:lnSpc>
                  <a:spcPts val="4480"/>
                </a:lnSpc>
                <a:spcBef>
                  <a:spcPct val="0"/>
                </a:spcBef>
              </a:pPr>
              <a:r>
                <a:rPr lang="en-US" sz="3200">
                  <a:solidFill>
                    <a:srgbClr val="FFFFFF"/>
                  </a:solidFill>
                  <a:latin typeface="Radley"/>
                  <a:ea typeface="Radley"/>
                  <a:cs typeface="Radley"/>
                  <a:sym typeface="Radley"/>
                </a:rPr>
                <a:t>Ana Knutson, Liam Otten, Andrew </a:t>
              </a:r>
              <a:r>
                <a:rPr lang="en-US" sz="3200" err="1">
                  <a:solidFill>
                    <a:srgbClr val="FFFFFF"/>
                  </a:solidFill>
                  <a:latin typeface="Radley"/>
                  <a:ea typeface="Radley"/>
                  <a:cs typeface="Radley"/>
                  <a:sym typeface="Radley"/>
                </a:rPr>
                <a:t>Prudlow</a:t>
              </a:r>
              <a:endParaRPr lang="en-US" sz="3200">
                <a:solidFill>
                  <a:srgbClr val="FFFFFF"/>
                </a:solidFill>
                <a:latin typeface="Radley"/>
                <a:ea typeface="Radley"/>
                <a:cs typeface="Radley"/>
                <a:sym typeface="Radley"/>
              </a:endParaRPr>
            </a:p>
          </p:txBody>
        </p:sp>
      </p:grpSp>
      <p:sp>
        <p:nvSpPr>
          <p:cNvPr id="9" name="Freeform 9"/>
          <p:cNvSpPr/>
          <p:nvPr/>
        </p:nvSpPr>
        <p:spPr>
          <a:xfrm>
            <a:off x="2116242" y="1299558"/>
            <a:ext cx="476250" cy="476250"/>
          </a:xfrm>
          <a:custGeom>
            <a:avLst/>
            <a:gdLst/>
            <a:ahLst/>
            <a:cxnLst/>
            <a:rect l="l" t="t" r="r" b="b"/>
            <a:pathLst>
              <a:path w="476250" h="476250">
                <a:moveTo>
                  <a:pt x="0" y="0"/>
                </a:moveTo>
                <a:lnTo>
                  <a:pt x="476250" y="0"/>
                </a:lnTo>
                <a:lnTo>
                  <a:pt x="476250" y="476250"/>
                </a:lnTo>
                <a:lnTo>
                  <a:pt x="0" y="47625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0" name="Freeform 10"/>
          <p:cNvSpPr/>
          <p:nvPr/>
        </p:nvSpPr>
        <p:spPr>
          <a:xfrm>
            <a:off x="11717442" y="2594958"/>
            <a:ext cx="723900" cy="723900"/>
          </a:xfrm>
          <a:custGeom>
            <a:avLst/>
            <a:gdLst/>
            <a:ahLst/>
            <a:cxnLst/>
            <a:rect l="l" t="t" r="r" b="b"/>
            <a:pathLst>
              <a:path w="723900" h="723900">
                <a:moveTo>
                  <a:pt x="0" y="0"/>
                </a:moveTo>
                <a:lnTo>
                  <a:pt x="723900" y="0"/>
                </a:lnTo>
                <a:lnTo>
                  <a:pt x="723900" y="723900"/>
                </a:lnTo>
                <a:lnTo>
                  <a:pt x="0" y="72390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1" name="Freeform 11"/>
          <p:cNvSpPr/>
          <p:nvPr/>
        </p:nvSpPr>
        <p:spPr>
          <a:xfrm>
            <a:off x="16175142" y="1299558"/>
            <a:ext cx="476250" cy="476250"/>
          </a:xfrm>
          <a:custGeom>
            <a:avLst/>
            <a:gdLst/>
            <a:ahLst/>
            <a:cxnLst/>
            <a:rect l="l" t="t" r="r" b="b"/>
            <a:pathLst>
              <a:path w="476250" h="476250">
                <a:moveTo>
                  <a:pt x="0" y="0"/>
                </a:moveTo>
                <a:lnTo>
                  <a:pt x="476250" y="0"/>
                </a:lnTo>
                <a:lnTo>
                  <a:pt x="476250" y="476250"/>
                </a:lnTo>
                <a:lnTo>
                  <a:pt x="0" y="47625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54778-0903-7CB0-1680-2648757D81B7}"/>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5A9E2FC3-5CC8-2A52-96D9-57ECC5B38DD3}"/>
              </a:ext>
            </a:extLst>
          </p:cNvPr>
          <p:cNvSpPr txBox="1"/>
          <p:nvPr/>
        </p:nvSpPr>
        <p:spPr>
          <a:xfrm>
            <a:off x="1015219" y="465339"/>
            <a:ext cx="14897100" cy="1639873"/>
          </a:xfrm>
          <a:prstGeom prst="rect">
            <a:avLst/>
          </a:prstGeom>
        </p:spPr>
        <p:txBody>
          <a:bodyPr wrap="square" lIns="0" tIns="0" rIns="0" bIns="0" rtlCol="0" anchor="t">
            <a:spAutoFit/>
          </a:bodyPr>
          <a:lstStyle/>
          <a:p>
            <a:pPr>
              <a:lnSpc>
                <a:spcPts val="13439"/>
              </a:lnSpc>
              <a:spcBef>
                <a:spcPct val="0"/>
              </a:spcBef>
            </a:pPr>
            <a:r>
              <a:rPr lang="en-US" sz="8000">
                <a:solidFill>
                  <a:srgbClr val="3F0A74"/>
                </a:solidFill>
                <a:latin typeface="Radley"/>
                <a:ea typeface="Radley"/>
                <a:cs typeface="Radley"/>
                <a:sym typeface="Radley"/>
              </a:rPr>
              <a:t>Problem Statement</a:t>
            </a:r>
          </a:p>
        </p:txBody>
      </p:sp>
      <p:sp>
        <p:nvSpPr>
          <p:cNvPr id="5" name="Freeform 5">
            <a:extLst>
              <a:ext uri="{FF2B5EF4-FFF2-40B4-BE49-F238E27FC236}">
                <a16:creationId xmlns:a16="http://schemas.microsoft.com/office/drawing/2014/main" id="{FB7A5AFF-F816-98A7-10CF-E4302C0DE619}"/>
              </a:ext>
            </a:extLst>
          </p:cNvPr>
          <p:cNvSpPr/>
          <p:nvPr/>
        </p:nvSpPr>
        <p:spPr>
          <a:xfrm rot="3413245" flipH="1">
            <a:off x="11800227" y="1104614"/>
            <a:ext cx="13053288" cy="9137301"/>
          </a:xfrm>
          <a:custGeom>
            <a:avLst/>
            <a:gdLst/>
            <a:ahLst/>
            <a:cxnLst/>
            <a:rect l="l" t="t" r="r" b="b"/>
            <a:pathLst>
              <a:path w="13053288" h="9137301">
                <a:moveTo>
                  <a:pt x="13053288" y="0"/>
                </a:moveTo>
                <a:lnTo>
                  <a:pt x="0" y="0"/>
                </a:lnTo>
                <a:lnTo>
                  <a:pt x="0" y="9137302"/>
                </a:lnTo>
                <a:lnTo>
                  <a:pt x="13053288" y="9137302"/>
                </a:lnTo>
                <a:lnTo>
                  <a:pt x="13053288"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a:extLst>
              <a:ext uri="{FF2B5EF4-FFF2-40B4-BE49-F238E27FC236}">
                <a16:creationId xmlns:a16="http://schemas.microsoft.com/office/drawing/2014/main" id="{A8144F31-7740-6DE3-6BC5-2767AE9753F7}"/>
              </a:ext>
            </a:extLst>
          </p:cNvPr>
          <p:cNvSpPr/>
          <p:nvPr/>
        </p:nvSpPr>
        <p:spPr>
          <a:xfrm rot="2813492">
            <a:off x="8707484" y="1063908"/>
            <a:ext cx="16963354" cy="6160958"/>
          </a:xfrm>
          <a:custGeom>
            <a:avLst/>
            <a:gdLst/>
            <a:ahLst/>
            <a:cxnLst/>
            <a:rect l="l" t="t" r="r" b="b"/>
            <a:pathLst>
              <a:path w="16963354" h="6160958">
                <a:moveTo>
                  <a:pt x="0" y="0"/>
                </a:moveTo>
                <a:lnTo>
                  <a:pt x="16963354" y="0"/>
                </a:lnTo>
                <a:lnTo>
                  <a:pt x="16963354" y="6160958"/>
                </a:lnTo>
                <a:lnTo>
                  <a:pt x="0" y="616095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TextBox 3">
            <a:extLst>
              <a:ext uri="{FF2B5EF4-FFF2-40B4-BE49-F238E27FC236}">
                <a16:creationId xmlns:a16="http://schemas.microsoft.com/office/drawing/2014/main" id="{C49AE117-804E-8DC2-1088-CEF32811B6E8}"/>
              </a:ext>
            </a:extLst>
          </p:cNvPr>
          <p:cNvSpPr txBox="1"/>
          <p:nvPr/>
        </p:nvSpPr>
        <p:spPr>
          <a:xfrm>
            <a:off x="838200" y="2552700"/>
            <a:ext cx="14752346" cy="70173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
              <a:buChar char="•"/>
            </a:pPr>
            <a:r>
              <a:rPr lang="en-US" sz="3600">
                <a:ea typeface="Calibri"/>
                <a:cs typeface="Calibri"/>
              </a:rPr>
              <a:t>Most training occurs with batches of the same size</a:t>
            </a:r>
          </a:p>
          <a:p>
            <a:pPr marL="742950" lvl="1" indent="-285750">
              <a:lnSpc>
                <a:spcPct val="150000"/>
              </a:lnSpc>
              <a:buFont typeface="Courier New"/>
              <a:buChar char="o"/>
            </a:pPr>
            <a:r>
              <a:rPr lang="en-US" sz="3600">
                <a:ea typeface="Calibri"/>
                <a:cs typeface="Calibri"/>
              </a:rPr>
              <a:t> What if this wasn't the case?</a:t>
            </a:r>
          </a:p>
          <a:p>
            <a:pPr marL="285750" indent="-285750">
              <a:lnSpc>
                <a:spcPct val="150000"/>
              </a:lnSpc>
              <a:buFont typeface="Arial"/>
              <a:buChar char="•"/>
            </a:pPr>
            <a:r>
              <a:rPr lang="en-US" sz="3600">
                <a:ea typeface="Calibri"/>
                <a:cs typeface="Calibri"/>
              </a:rPr>
              <a:t>Deep Learning is biologically inspired</a:t>
            </a:r>
          </a:p>
          <a:p>
            <a:pPr marL="742950" lvl="1" indent="-285750">
              <a:lnSpc>
                <a:spcPct val="150000"/>
              </a:lnSpc>
              <a:buFont typeface="Courier New,monospace"/>
              <a:buChar char="o"/>
            </a:pPr>
            <a:r>
              <a:rPr lang="en-US" sz="3600">
                <a:ea typeface="Calibri"/>
                <a:cs typeface="Calibri"/>
              </a:rPr>
              <a:t> Neurons represent neurons in the brain</a:t>
            </a:r>
          </a:p>
          <a:p>
            <a:pPr marL="285750" indent="-285750">
              <a:lnSpc>
                <a:spcPct val="150000"/>
              </a:lnSpc>
              <a:buFont typeface="Arial"/>
              <a:buChar char="•"/>
            </a:pPr>
            <a:r>
              <a:rPr lang="en-US" sz="3600" b="1">
                <a:ea typeface="Calibri"/>
                <a:cs typeface="Calibri"/>
              </a:rPr>
              <a:t>What if batch sizes also represented how humans learn?</a:t>
            </a:r>
          </a:p>
          <a:p>
            <a:pPr marL="742950" lvl="1" indent="-285750">
              <a:lnSpc>
                <a:spcPct val="150000"/>
              </a:lnSpc>
              <a:buFont typeface="Courier New"/>
              <a:buChar char="o"/>
            </a:pPr>
            <a:r>
              <a:rPr lang="en-US" sz="3600">
                <a:ea typeface="Calibri"/>
                <a:cs typeface="Calibri"/>
              </a:rPr>
              <a:t> Model batch sizes after sleep</a:t>
            </a:r>
          </a:p>
          <a:p>
            <a:pPr marL="742950" lvl="1" indent="-285750">
              <a:lnSpc>
                <a:spcPct val="150000"/>
              </a:lnSpc>
              <a:buFont typeface="Courier New"/>
              <a:buChar char="o"/>
            </a:pPr>
            <a:r>
              <a:rPr lang="en-US" sz="3600">
                <a:ea typeface="Calibri"/>
                <a:cs typeface="Calibri"/>
              </a:rPr>
              <a:t> Mix “exploration” of small batch sizes with “stabilization” with big batch sizes</a:t>
            </a:r>
            <a:endParaRPr lang="en-US" sz="2000">
              <a:ea typeface="Calibri"/>
              <a:cs typeface="Calibri"/>
            </a:endParaRPr>
          </a:p>
          <a:p>
            <a:pPr lvl="1"/>
            <a:endParaRPr lang="en-US">
              <a:ea typeface="Calibri"/>
              <a:cs typeface="Calibri"/>
            </a:endParaRPr>
          </a:p>
        </p:txBody>
      </p:sp>
    </p:spTree>
    <p:extLst>
      <p:ext uri="{BB962C8B-B14F-4D97-AF65-F5344CB8AC3E}">
        <p14:creationId xmlns:p14="http://schemas.microsoft.com/office/powerpoint/2010/main" val="37533258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EBFD9-DA4D-98EC-1A62-2E03FCDE4529}"/>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C054A8FB-7842-284E-93B9-EE5B8FA217C2}"/>
              </a:ext>
            </a:extLst>
          </p:cNvPr>
          <p:cNvSpPr/>
          <p:nvPr/>
        </p:nvSpPr>
        <p:spPr>
          <a:xfrm rot="9161857" flipH="1">
            <a:off x="8785833" y="6028028"/>
            <a:ext cx="13053288" cy="9137301"/>
          </a:xfrm>
          <a:custGeom>
            <a:avLst/>
            <a:gdLst/>
            <a:ahLst/>
            <a:cxnLst/>
            <a:rect l="l" t="t" r="r" b="b"/>
            <a:pathLst>
              <a:path w="13053288" h="9137301">
                <a:moveTo>
                  <a:pt x="13053288" y="0"/>
                </a:moveTo>
                <a:lnTo>
                  <a:pt x="0" y="0"/>
                </a:lnTo>
                <a:lnTo>
                  <a:pt x="0" y="9137302"/>
                </a:lnTo>
                <a:lnTo>
                  <a:pt x="13053288" y="9137302"/>
                </a:lnTo>
                <a:lnTo>
                  <a:pt x="13053288"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a:extLst>
              <a:ext uri="{FF2B5EF4-FFF2-40B4-BE49-F238E27FC236}">
                <a16:creationId xmlns:a16="http://schemas.microsoft.com/office/drawing/2014/main" id="{41687828-695D-AD8F-4787-88168FD3CD6D}"/>
              </a:ext>
            </a:extLst>
          </p:cNvPr>
          <p:cNvSpPr/>
          <p:nvPr/>
        </p:nvSpPr>
        <p:spPr>
          <a:xfrm rot="9167875">
            <a:off x="7430642" y="4996721"/>
            <a:ext cx="16963354" cy="6160958"/>
          </a:xfrm>
          <a:custGeom>
            <a:avLst/>
            <a:gdLst/>
            <a:ahLst/>
            <a:cxnLst/>
            <a:rect l="l" t="t" r="r" b="b"/>
            <a:pathLst>
              <a:path w="16963354" h="6160958">
                <a:moveTo>
                  <a:pt x="0" y="0"/>
                </a:moveTo>
                <a:lnTo>
                  <a:pt x="16963354" y="0"/>
                </a:lnTo>
                <a:lnTo>
                  <a:pt x="16963354" y="6160958"/>
                </a:lnTo>
                <a:lnTo>
                  <a:pt x="0" y="616095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BEB3B42-C202-62B6-2592-942B212402F7}"/>
                  </a:ext>
                </a:extLst>
              </p:cNvPr>
              <p:cNvSpPr txBox="1"/>
              <p:nvPr/>
            </p:nvSpPr>
            <p:spPr>
              <a:xfrm>
                <a:off x="628588" y="2247900"/>
                <a:ext cx="16214424" cy="5779659"/>
              </a:xfrm>
              <a:prstGeom prst="rect">
                <a:avLst/>
              </a:prstGeom>
              <a:noFill/>
            </p:spPr>
            <p:txBody>
              <a:bodyPr wrap="square" rtlCol="0">
                <a:spAutoFit/>
              </a:bodyPr>
              <a:lstStyle/>
              <a:p>
                <a:pPr>
                  <a:lnSpc>
                    <a:spcPct val="150000"/>
                  </a:lnSpc>
                </a:pPr>
                <a:r>
                  <a:rPr lang="en-US" sz="3200" i="1"/>
                  <a:t>Don't decay the learning rate, increase the batch size - </a:t>
                </a:r>
                <a:r>
                  <a:rPr lang="en-US" sz="2000" i="1"/>
                  <a:t>Samuel L. Smith, Pieter-Jan </a:t>
                </a:r>
                <a:r>
                  <a:rPr lang="en-US" sz="2000" i="1" err="1"/>
                  <a:t>Kindermans</a:t>
                </a:r>
                <a:r>
                  <a:rPr lang="en-US" sz="2000" i="1"/>
                  <a:t>, Chris Ying, Quoc V. Le</a:t>
                </a:r>
                <a:endParaRPr lang="en-US" sz="3200" i="1"/>
              </a:p>
              <a:p>
                <a:pPr marL="914400" lvl="1" indent="-457200">
                  <a:lnSpc>
                    <a:spcPct val="150000"/>
                  </a:lnSpc>
                  <a:buFont typeface="Arial" panose="020B0604020202020204" pitchFamily="34" charset="0"/>
                  <a:buChar char="•"/>
                </a:pPr>
                <a:r>
                  <a:rPr lang="en-US" sz="3200"/>
                  <a:t>The batch size has a loosely inverse relationship to the learning rate</a:t>
                </a:r>
              </a:p>
              <a:p>
                <a:pPr>
                  <a:lnSpc>
                    <a:spcPct val="150000"/>
                  </a:lnSpc>
                </a:pPr>
                <a:endParaRPr lang="en-US" sz="3200"/>
              </a:p>
              <a:p>
                <a:pPr>
                  <a:lnSpc>
                    <a:spcPct val="150000"/>
                  </a:lnSpc>
                </a:pPr>
                <a:r>
                  <a:rPr lang="en-US" sz="3200" i="1"/>
                  <a:t>The Effect of Network Width on Stochastic Gradient Descent and Generalization: an Empirical Study - </a:t>
                </a:r>
                <a:r>
                  <a:rPr lang="en-US" sz="2000"/>
                  <a:t>Daniel S. Park, Jascha Sohl-Dickstein, Quoc V. Le, Samuel L. Smith</a:t>
                </a:r>
              </a:p>
              <a:p>
                <a:pPr>
                  <a:lnSpc>
                    <a:spcPct val="150000"/>
                  </a:lnSpc>
                </a:pPr>
                <a:endParaRPr lang="en-US" sz="2000"/>
              </a:p>
              <a:p>
                <a:pPr>
                  <a:lnSpc>
                    <a:spcPct val="150000"/>
                  </a:lnSpc>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rPr>
                        <m:t>𝑛𝑜𝑖𝑠𝑒</m:t>
                      </m:r>
                      <m:r>
                        <a:rPr lang="en-US" sz="3200" i="1" smtClean="0">
                          <a:latin typeface="Cambria Math" panose="02040503050406030204" pitchFamily="18" charset="0"/>
                        </a:rPr>
                        <m:t>∼</m:t>
                      </m:r>
                      <m:f>
                        <m:fPr>
                          <m:ctrlPr>
                            <a:rPr lang="en-US" sz="3200" i="1">
                              <a:latin typeface="Cambria Math" panose="02040503050406030204" pitchFamily="18" charset="0"/>
                            </a:rPr>
                          </m:ctrlPr>
                        </m:fPr>
                        <m:num>
                          <m:r>
                            <m:rPr>
                              <m:nor/>
                            </m:rPr>
                            <a:rPr lang="en-US" sz="3200" b="0" i="0" smtClean="0">
                              <a:latin typeface="Cambria Math" panose="02040503050406030204" pitchFamily="18" charset="0"/>
                            </a:rPr>
                            <m:t>learning</m:t>
                          </m:r>
                          <m:r>
                            <m:rPr>
                              <m:nor/>
                            </m:rPr>
                            <a:rPr lang="en-US" sz="3200" b="0" i="0" smtClean="0">
                              <a:latin typeface="Cambria Math" panose="02040503050406030204" pitchFamily="18" charset="0"/>
                            </a:rPr>
                            <m:t> </m:t>
                          </m:r>
                          <m:r>
                            <m:rPr>
                              <m:nor/>
                            </m:rPr>
                            <a:rPr lang="en-US" sz="3200" b="0" i="0" smtClean="0">
                              <a:latin typeface="Cambria Math" panose="02040503050406030204" pitchFamily="18" charset="0"/>
                            </a:rPr>
                            <m:t>rate</m:t>
                          </m:r>
                        </m:num>
                        <m:den>
                          <m:r>
                            <m:rPr>
                              <m:sty m:val="p"/>
                            </m:rPr>
                            <a:rPr lang="en-US" sz="3200" b="0" i="0" smtClean="0">
                              <a:latin typeface="Cambria Math" panose="02040503050406030204" pitchFamily="18" charset="0"/>
                            </a:rPr>
                            <m:t>batch</m:t>
                          </m:r>
                          <m:r>
                            <a:rPr lang="en-US" sz="3200" b="0" i="0" smtClean="0">
                              <a:latin typeface="Cambria Math" panose="02040503050406030204" pitchFamily="18" charset="0"/>
                            </a:rPr>
                            <m:t> </m:t>
                          </m:r>
                          <m:r>
                            <m:rPr>
                              <m:sty m:val="p"/>
                            </m:rPr>
                            <a:rPr lang="en-US" sz="3200" b="0" i="0" smtClean="0">
                              <a:latin typeface="Cambria Math" panose="02040503050406030204" pitchFamily="18" charset="0"/>
                            </a:rPr>
                            <m:t>size</m:t>
                          </m:r>
                        </m:den>
                      </m:f>
                    </m:oMath>
                  </m:oMathPara>
                </a14:m>
                <a:endParaRPr lang="en-US" sz="3200"/>
              </a:p>
            </p:txBody>
          </p:sp>
        </mc:Choice>
        <mc:Fallback xmlns="">
          <p:sp>
            <p:nvSpPr>
              <p:cNvPr id="2" name="TextBox 1">
                <a:extLst>
                  <a:ext uri="{FF2B5EF4-FFF2-40B4-BE49-F238E27FC236}">
                    <a16:creationId xmlns:a16="http://schemas.microsoft.com/office/drawing/2014/main" id="{BBEB3B42-C202-62B6-2592-942B212402F7}"/>
                  </a:ext>
                </a:extLst>
              </p:cNvPr>
              <p:cNvSpPr txBox="1">
                <a:spLocks noRot="1" noChangeAspect="1" noMove="1" noResize="1" noEditPoints="1" noAdjustHandles="1" noChangeArrowheads="1" noChangeShapeType="1" noTextEdit="1"/>
              </p:cNvSpPr>
              <p:nvPr/>
            </p:nvSpPr>
            <p:spPr>
              <a:xfrm>
                <a:off x="628588" y="2247900"/>
                <a:ext cx="16214424" cy="5779659"/>
              </a:xfrm>
              <a:prstGeom prst="rect">
                <a:avLst/>
              </a:prstGeom>
              <a:blipFill>
                <a:blip r:embed="rId5"/>
                <a:stretch>
                  <a:fillRect l="-940"/>
                </a:stretch>
              </a:blipFill>
            </p:spPr>
            <p:txBody>
              <a:bodyPr/>
              <a:lstStyle/>
              <a:p>
                <a:r>
                  <a:rPr lang="en-US">
                    <a:noFill/>
                  </a:rPr>
                  <a:t> </a:t>
                </a:r>
              </a:p>
            </p:txBody>
          </p:sp>
        </mc:Fallback>
      </mc:AlternateContent>
      <p:sp>
        <p:nvSpPr>
          <p:cNvPr id="8" name="TextBox 3">
            <a:extLst>
              <a:ext uri="{FF2B5EF4-FFF2-40B4-BE49-F238E27FC236}">
                <a16:creationId xmlns:a16="http://schemas.microsoft.com/office/drawing/2014/main" id="{D8171EDB-FF39-5894-51D2-7700B494E4FF}"/>
              </a:ext>
            </a:extLst>
          </p:cNvPr>
          <p:cNvSpPr txBox="1"/>
          <p:nvPr/>
        </p:nvSpPr>
        <p:spPr>
          <a:xfrm>
            <a:off x="762000" y="286616"/>
            <a:ext cx="14897100" cy="1639873"/>
          </a:xfrm>
          <a:prstGeom prst="rect">
            <a:avLst/>
          </a:prstGeom>
        </p:spPr>
        <p:txBody>
          <a:bodyPr wrap="square" lIns="0" tIns="0" rIns="0" bIns="0" rtlCol="0" anchor="t">
            <a:spAutoFit/>
          </a:bodyPr>
          <a:lstStyle/>
          <a:p>
            <a:pPr>
              <a:lnSpc>
                <a:spcPts val="13439"/>
              </a:lnSpc>
              <a:spcBef>
                <a:spcPct val="0"/>
              </a:spcBef>
            </a:pPr>
            <a:r>
              <a:rPr lang="en-US" sz="8000">
                <a:solidFill>
                  <a:srgbClr val="3F0A74"/>
                </a:solidFill>
                <a:latin typeface="Radley"/>
                <a:ea typeface="Radley"/>
                <a:cs typeface="Radley"/>
                <a:sym typeface="Radley"/>
              </a:rPr>
              <a:t>Prior Research</a:t>
            </a:r>
          </a:p>
        </p:txBody>
      </p:sp>
    </p:spTree>
    <p:extLst>
      <p:ext uri="{BB962C8B-B14F-4D97-AF65-F5344CB8AC3E}">
        <p14:creationId xmlns:p14="http://schemas.microsoft.com/office/powerpoint/2010/main" val="35375071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1015219" y="465339"/>
            <a:ext cx="14897100" cy="1639873"/>
          </a:xfrm>
          <a:prstGeom prst="rect">
            <a:avLst/>
          </a:prstGeom>
        </p:spPr>
        <p:txBody>
          <a:bodyPr wrap="square" lIns="0" tIns="0" rIns="0" bIns="0" rtlCol="0" anchor="t">
            <a:spAutoFit/>
          </a:bodyPr>
          <a:lstStyle/>
          <a:p>
            <a:pPr>
              <a:lnSpc>
                <a:spcPts val="13439"/>
              </a:lnSpc>
              <a:spcBef>
                <a:spcPct val="0"/>
              </a:spcBef>
            </a:pPr>
            <a:r>
              <a:rPr lang="en-US" sz="8000">
                <a:solidFill>
                  <a:srgbClr val="3F0A74"/>
                </a:solidFill>
                <a:latin typeface="Radley"/>
                <a:ea typeface="Radley"/>
                <a:cs typeface="Radley"/>
                <a:sym typeface="Radley"/>
              </a:rPr>
              <a:t>Datasets</a:t>
            </a:r>
          </a:p>
        </p:txBody>
      </p:sp>
      <p:sp>
        <p:nvSpPr>
          <p:cNvPr id="5" name="Freeform 5"/>
          <p:cNvSpPr/>
          <p:nvPr/>
        </p:nvSpPr>
        <p:spPr>
          <a:xfrm rot="3078073" flipH="1">
            <a:off x="13540158" y="-847633"/>
            <a:ext cx="13053288" cy="9137301"/>
          </a:xfrm>
          <a:custGeom>
            <a:avLst/>
            <a:gdLst/>
            <a:ahLst/>
            <a:cxnLst/>
            <a:rect l="l" t="t" r="r" b="b"/>
            <a:pathLst>
              <a:path w="13053288" h="9137301">
                <a:moveTo>
                  <a:pt x="13053288" y="0"/>
                </a:moveTo>
                <a:lnTo>
                  <a:pt x="0" y="0"/>
                </a:lnTo>
                <a:lnTo>
                  <a:pt x="0" y="9137302"/>
                </a:lnTo>
                <a:lnTo>
                  <a:pt x="13053288" y="9137302"/>
                </a:lnTo>
                <a:lnTo>
                  <a:pt x="13053288"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rot="6668396">
            <a:off x="7430642" y="4996721"/>
            <a:ext cx="16963354" cy="6160958"/>
          </a:xfrm>
          <a:custGeom>
            <a:avLst/>
            <a:gdLst/>
            <a:ahLst/>
            <a:cxnLst/>
            <a:rect l="l" t="t" r="r" b="b"/>
            <a:pathLst>
              <a:path w="16963354" h="6160958">
                <a:moveTo>
                  <a:pt x="0" y="0"/>
                </a:moveTo>
                <a:lnTo>
                  <a:pt x="16963354" y="0"/>
                </a:lnTo>
                <a:lnTo>
                  <a:pt x="16963354" y="6160958"/>
                </a:lnTo>
                <a:lnTo>
                  <a:pt x="0" y="616095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pic>
        <p:nvPicPr>
          <p:cNvPr id="7" name="Picture 6">
            <a:extLst>
              <a:ext uri="{FF2B5EF4-FFF2-40B4-BE49-F238E27FC236}">
                <a16:creationId xmlns:a16="http://schemas.microsoft.com/office/drawing/2014/main" id="{23630000-7595-43B9-A02B-983E24512DC0}"/>
              </a:ext>
            </a:extLst>
          </p:cNvPr>
          <p:cNvPicPr>
            <a:picLocks noChangeAspect="1"/>
          </p:cNvPicPr>
          <p:nvPr/>
        </p:nvPicPr>
        <p:blipFill>
          <a:blip r:embed="rId5"/>
          <a:stretch>
            <a:fillRect/>
          </a:stretch>
        </p:blipFill>
        <p:spPr>
          <a:xfrm>
            <a:off x="759535" y="6470042"/>
            <a:ext cx="7976264" cy="3214315"/>
          </a:xfrm>
          <a:prstGeom prst="rect">
            <a:avLst/>
          </a:prstGeom>
        </p:spPr>
      </p:pic>
      <p:pic>
        <p:nvPicPr>
          <p:cNvPr id="1026" name="Picture 2" descr="Image Classification with Cifar-10 using Convolutional | by Piyush Garg ...">
            <a:extLst>
              <a:ext uri="{FF2B5EF4-FFF2-40B4-BE49-F238E27FC236}">
                <a16:creationId xmlns:a16="http://schemas.microsoft.com/office/drawing/2014/main" id="{2BDEF84F-673A-04CE-EE09-249FE312DC2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734800" y="6017649"/>
            <a:ext cx="5580716" cy="411909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ntroduction to Machine Learning: Iris Dataset. | by Sauravdeb | Medium">
            <a:extLst>
              <a:ext uri="{FF2B5EF4-FFF2-40B4-BE49-F238E27FC236}">
                <a16:creationId xmlns:a16="http://schemas.microsoft.com/office/drawing/2014/main" id="{96F090C2-90E4-2DAD-D875-F1D85A466E4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76800" y="2471582"/>
            <a:ext cx="7976264" cy="2984452"/>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0FC8BDE-C98F-26B5-BED2-D4FD5939CBDA}"/>
              </a:ext>
            </a:extLst>
          </p:cNvPr>
          <p:cNvSpPr txBox="1"/>
          <p:nvPr/>
        </p:nvSpPr>
        <p:spPr>
          <a:xfrm>
            <a:off x="3872101" y="5885267"/>
            <a:ext cx="1751131" cy="584775"/>
          </a:xfrm>
          <a:prstGeom prst="rect">
            <a:avLst/>
          </a:prstGeom>
          <a:noFill/>
        </p:spPr>
        <p:txBody>
          <a:bodyPr wrap="square" rtlCol="0">
            <a:spAutoFit/>
          </a:bodyPr>
          <a:lstStyle/>
          <a:p>
            <a:r>
              <a:rPr lang="en-US" sz="3200"/>
              <a:t>Numbers</a:t>
            </a:r>
          </a:p>
        </p:txBody>
      </p:sp>
      <p:sp>
        <p:nvSpPr>
          <p:cNvPr id="11" name="TextBox 10">
            <a:extLst>
              <a:ext uri="{FF2B5EF4-FFF2-40B4-BE49-F238E27FC236}">
                <a16:creationId xmlns:a16="http://schemas.microsoft.com/office/drawing/2014/main" id="{C6C01374-6275-A284-748C-D3D43ADC1086}"/>
              </a:ext>
            </a:extLst>
          </p:cNvPr>
          <p:cNvSpPr txBox="1"/>
          <p:nvPr/>
        </p:nvSpPr>
        <p:spPr>
          <a:xfrm>
            <a:off x="8763000" y="2062158"/>
            <a:ext cx="762000" cy="584775"/>
          </a:xfrm>
          <a:prstGeom prst="rect">
            <a:avLst/>
          </a:prstGeom>
          <a:noFill/>
        </p:spPr>
        <p:txBody>
          <a:bodyPr wrap="square" rtlCol="0">
            <a:spAutoFit/>
          </a:bodyPr>
          <a:lstStyle/>
          <a:p>
            <a:r>
              <a:rPr lang="en-US" sz="3200"/>
              <a:t>Iris</a:t>
            </a:r>
          </a:p>
        </p:txBody>
      </p:sp>
      <p:sp>
        <p:nvSpPr>
          <p:cNvPr id="12" name="TextBox 11">
            <a:extLst>
              <a:ext uri="{FF2B5EF4-FFF2-40B4-BE49-F238E27FC236}">
                <a16:creationId xmlns:a16="http://schemas.microsoft.com/office/drawing/2014/main" id="{E629A8F8-0D6F-3F91-7CAD-0463A2651007}"/>
              </a:ext>
            </a:extLst>
          </p:cNvPr>
          <p:cNvSpPr txBox="1"/>
          <p:nvPr/>
        </p:nvSpPr>
        <p:spPr>
          <a:xfrm>
            <a:off x="13487400" y="5491929"/>
            <a:ext cx="1913323" cy="584775"/>
          </a:xfrm>
          <a:prstGeom prst="rect">
            <a:avLst/>
          </a:prstGeom>
          <a:noFill/>
        </p:spPr>
        <p:txBody>
          <a:bodyPr wrap="square" rtlCol="0">
            <a:spAutoFit/>
          </a:bodyPr>
          <a:lstStyle/>
          <a:p>
            <a:r>
              <a:rPr lang="en-US" sz="3200"/>
              <a:t>CIFAR-100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4306329">
            <a:off x="11486584" y="523289"/>
            <a:ext cx="12579782" cy="9240422"/>
          </a:xfrm>
          <a:custGeom>
            <a:avLst/>
            <a:gdLst/>
            <a:ahLst/>
            <a:cxnLst/>
            <a:rect l="l" t="t" r="r" b="b"/>
            <a:pathLst>
              <a:path w="12579782" h="9240422">
                <a:moveTo>
                  <a:pt x="0" y="0"/>
                </a:moveTo>
                <a:lnTo>
                  <a:pt x="12579783" y="0"/>
                </a:lnTo>
                <a:lnTo>
                  <a:pt x="12579783" y="9240422"/>
                </a:lnTo>
                <a:lnTo>
                  <a:pt x="0" y="924042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rot="4823671">
            <a:off x="8862938" y="2146377"/>
            <a:ext cx="16963354" cy="6160958"/>
          </a:xfrm>
          <a:custGeom>
            <a:avLst/>
            <a:gdLst/>
            <a:ahLst/>
            <a:cxnLst/>
            <a:rect l="l" t="t" r="r" b="b"/>
            <a:pathLst>
              <a:path w="16963354" h="6160958">
                <a:moveTo>
                  <a:pt x="0" y="0"/>
                </a:moveTo>
                <a:lnTo>
                  <a:pt x="16963354" y="0"/>
                </a:lnTo>
                <a:lnTo>
                  <a:pt x="16963354" y="6160957"/>
                </a:lnTo>
                <a:lnTo>
                  <a:pt x="0" y="616095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TextBox 6"/>
          <p:cNvSpPr txBox="1"/>
          <p:nvPr/>
        </p:nvSpPr>
        <p:spPr>
          <a:xfrm>
            <a:off x="669471" y="495300"/>
            <a:ext cx="10734848" cy="1639873"/>
          </a:xfrm>
          <a:prstGeom prst="rect">
            <a:avLst/>
          </a:prstGeom>
        </p:spPr>
        <p:txBody>
          <a:bodyPr wrap="square" lIns="0" tIns="0" rIns="0" bIns="0" rtlCol="0" anchor="t">
            <a:spAutoFit/>
          </a:bodyPr>
          <a:lstStyle/>
          <a:p>
            <a:pPr algn="l">
              <a:lnSpc>
                <a:spcPts val="13439"/>
              </a:lnSpc>
              <a:spcBef>
                <a:spcPct val="0"/>
              </a:spcBef>
            </a:pPr>
            <a:r>
              <a:rPr lang="en-US" sz="8000">
                <a:solidFill>
                  <a:srgbClr val="3F0A74"/>
                </a:solidFill>
                <a:latin typeface="Radley"/>
                <a:ea typeface="Radley"/>
                <a:cs typeface="Radley"/>
                <a:sym typeface="Radley"/>
              </a:rPr>
              <a:t>Baseline Models</a:t>
            </a:r>
          </a:p>
        </p:txBody>
      </p:sp>
      <p:sp>
        <p:nvSpPr>
          <p:cNvPr id="4" name="TextBox 3">
            <a:extLst>
              <a:ext uri="{FF2B5EF4-FFF2-40B4-BE49-F238E27FC236}">
                <a16:creationId xmlns:a16="http://schemas.microsoft.com/office/drawing/2014/main" id="{5EF0983B-E4F6-F166-F37E-DF4CA5882A58}"/>
              </a:ext>
            </a:extLst>
          </p:cNvPr>
          <p:cNvSpPr txBox="1"/>
          <p:nvPr/>
        </p:nvSpPr>
        <p:spPr>
          <a:xfrm>
            <a:off x="800099" y="2560320"/>
            <a:ext cx="12435840" cy="63094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buFont typeface="Arial"/>
              <a:buChar char="•"/>
            </a:pPr>
            <a:r>
              <a:rPr lang="en-US" sz="4800">
                <a:ea typeface="+mn-lt"/>
                <a:cs typeface="+mn-lt"/>
              </a:rPr>
              <a:t> Iris: dense neural network </a:t>
            </a:r>
          </a:p>
          <a:p>
            <a:pPr>
              <a:lnSpc>
                <a:spcPct val="150000"/>
              </a:lnSpc>
              <a:buFont typeface="Arial"/>
              <a:buChar char="•"/>
            </a:pPr>
            <a:r>
              <a:rPr lang="en-US" sz="4800">
                <a:ea typeface="+mn-lt"/>
                <a:cs typeface="+mn-lt"/>
              </a:rPr>
              <a:t> Digits: dense network + LeNet-style CNN </a:t>
            </a:r>
            <a:endParaRPr lang="en-US" sz="4800">
              <a:ea typeface="Calibri"/>
              <a:cs typeface="Calibri"/>
            </a:endParaRPr>
          </a:p>
          <a:p>
            <a:pPr>
              <a:lnSpc>
                <a:spcPct val="150000"/>
              </a:lnSpc>
              <a:buFont typeface="Arial"/>
              <a:buChar char="•"/>
            </a:pPr>
            <a:r>
              <a:rPr lang="en-US" sz="4800">
                <a:ea typeface="+mn-lt"/>
                <a:cs typeface="+mn-lt"/>
              </a:rPr>
              <a:t> CIFAR-100: small </a:t>
            </a:r>
            <a:r>
              <a:rPr lang="en-US" sz="4800" err="1">
                <a:ea typeface="+mn-lt"/>
                <a:cs typeface="+mn-lt"/>
              </a:rPr>
              <a:t>ResNet</a:t>
            </a:r>
            <a:r>
              <a:rPr lang="en-US" sz="4800">
                <a:ea typeface="+mn-lt"/>
                <a:cs typeface="+mn-lt"/>
              </a:rPr>
              <a:t>-style CNN </a:t>
            </a:r>
          </a:p>
          <a:p>
            <a:pPr>
              <a:lnSpc>
                <a:spcPct val="150000"/>
              </a:lnSpc>
              <a:buFont typeface="Arial"/>
              <a:buChar char="•"/>
            </a:pPr>
            <a:r>
              <a:rPr lang="en-US" sz="4800">
                <a:ea typeface="+mn-lt"/>
                <a:cs typeface="+mn-lt"/>
              </a:rPr>
              <a:t> Baseline used fixed batch size near the sleep-schedule average</a:t>
            </a:r>
            <a:endParaRPr lang="en-US" sz="4800">
              <a:ea typeface="Calibri"/>
              <a:cs typeface="Calibri"/>
            </a:endParaRPr>
          </a:p>
          <a:p>
            <a:pPr marL="285750" indent="-285750" algn="l">
              <a:buFont typeface="Arial"/>
              <a:buChar char="•"/>
            </a:pPr>
            <a:endParaRPr lang="en-US" sz="4400">
              <a:ea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6935828">
            <a:off x="8824625" y="3637693"/>
            <a:ext cx="11298382" cy="10969702"/>
          </a:xfrm>
          <a:custGeom>
            <a:avLst/>
            <a:gdLst/>
            <a:ahLst/>
            <a:cxnLst/>
            <a:rect l="l" t="t" r="r" b="b"/>
            <a:pathLst>
              <a:path w="11298382" h="10969702">
                <a:moveTo>
                  <a:pt x="0" y="0"/>
                </a:moveTo>
                <a:lnTo>
                  <a:pt x="11298382" y="0"/>
                </a:lnTo>
                <a:lnTo>
                  <a:pt x="11298382" y="10969702"/>
                </a:lnTo>
                <a:lnTo>
                  <a:pt x="0" y="1096970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TextBox 4"/>
          <p:cNvSpPr txBox="1"/>
          <p:nvPr/>
        </p:nvSpPr>
        <p:spPr>
          <a:xfrm>
            <a:off x="533400" y="339069"/>
            <a:ext cx="17621250" cy="1639873"/>
          </a:xfrm>
          <a:prstGeom prst="rect">
            <a:avLst/>
          </a:prstGeom>
        </p:spPr>
        <p:txBody>
          <a:bodyPr wrap="square" lIns="0" tIns="0" rIns="0" bIns="0" rtlCol="0" anchor="t">
            <a:spAutoFit/>
          </a:bodyPr>
          <a:lstStyle/>
          <a:p>
            <a:pPr algn="l">
              <a:lnSpc>
                <a:spcPts val="13439"/>
              </a:lnSpc>
              <a:spcBef>
                <a:spcPct val="0"/>
              </a:spcBef>
            </a:pPr>
            <a:r>
              <a:rPr lang="en-US" sz="8000">
                <a:solidFill>
                  <a:srgbClr val="3F0A74"/>
                </a:solidFill>
                <a:latin typeface="Radley"/>
                <a:ea typeface="Radley"/>
                <a:cs typeface="Radley"/>
                <a:sym typeface="Radley"/>
              </a:rPr>
              <a:t>Model Optimization Techniques</a:t>
            </a:r>
          </a:p>
        </p:txBody>
      </p:sp>
      <p:sp>
        <p:nvSpPr>
          <p:cNvPr id="6" name="Freeform 6"/>
          <p:cNvSpPr/>
          <p:nvPr/>
        </p:nvSpPr>
        <p:spPr>
          <a:xfrm rot="10613559">
            <a:off x="5566079" y="6315440"/>
            <a:ext cx="16963354" cy="6160958"/>
          </a:xfrm>
          <a:custGeom>
            <a:avLst/>
            <a:gdLst/>
            <a:ahLst/>
            <a:cxnLst/>
            <a:rect l="l" t="t" r="r" b="b"/>
            <a:pathLst>
              <a:path w="16963354" h="6160958">
                <a:moveTo>
                  <a:pt x="0" y="0"/>
                </a:moveTo>
                <a:lnTo>
                  <a:pt x="16963354" y="0"/>
                </a:lnTo>
                <a:lnTo>
                  <a:pt x="16963354" y="6160958"/>
                </a:lnTo>
                <a:lnTo>
                  <a:pt x="0" y="616095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2">
            <a:extLst>
              <a:ext uri="{FF2B5EF4-FFF2-40B4-BE49-F238E27FC236}">
                <a16:creationId xmlns:a16="http://schemas.microsoft.com/office/drawing/2014/main" id="{5934BD1C-3F63-EF68-8B65-60DF78B5F1B1}"/>
              </a:ext>
            </a:extLst>
          </p:cNvPr>
          <p:cNvSpPr txBox="1"/>
          <p:nvPr/>
        </p:nvSpPr>
        <p:spPr>
          <a:xfrm>
            <a:off x="914400" y="2105238"/>
            <a:ext cx="15163800" cy="70173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
              <a:buChar char="•"/>
            </a:pPr>
            <a:r>
              <a:rPr lang="en-US" sz="4800">
                <a:ea typeface="+mn-lt"/>
                <a:cs typeface="+mn-lt"/>
              </a:rPr>
              <a:t> Sleep-inspired batch schedule: small batches with periodic large-batch “consolidation” </a:t>
            </a:r>
            <a:endParaRPr lang="en-US" sz="4800">
              <a:ea typeface="Calibri"/>
              <a:cs typeface="Calibri"/>
            </a:endParaRPr>
          </a:p>
          <a:p>
            <a:pPr marL="285750" indent="-285750">
              <a:lnSpc>
                <a:spcPct val="150000"/>
              </a:lnSpc>
              <a:buFont typeface="Arial"/>
              <a:buChar char="•"/>
            </a:pPr>
            <a:r>
              <a:rPr lang="en-US" sz="4800">
                <a:ea typeface="+mn-lt"/>
                <a:cs typeface="+mn-lt"/>
              </a:rPr>
              <a:t> Data augmentation for CIFAR-100 </a:t>
            </a:r>
            <a:endParaRPr lang="en-US" sz="4800">
              <a:ea typeface="Calibri"/>
              <a:cs typeface="Calibri"/>
            </a:endParaRPr>
          </a:p>
          <a:p>
            <a:pPr marL="285750" indent="-285750">
              <a:lnSpc>
                <a:spcPct val="150000"/>
              </a:lnSpc>
              <a:buFont typeface="Arial"/>
              <a:buChar char="•"/>
            </a:pPr>
            <a:r>
              <a:rPr lang="en-US" sz="4800">
                <a:ea typeface="+mn-lt"/>
                <a:cs typeface="+mn-lt"/>
              </a:rPr>
              <a:t> SGD with momentum and step-decay learning rate </a:t>
            </a:r>
            <a:endParaRPr lang="en-US" sz="4800">
              <a:ea typeface="Calibri"/>
              <a:cs typeface="Calibri"/>
            </a:endParaRPr>
          </a:p>
          <a:p>
            <a:pPr marL="285750" indent="-285750">
              <a:lnSpc>
                <a:spcPct val="150000"/>
              </a:lnSpc>
              <a:buFont typeface="Arial"/>
              <a:buChar char="•"/>
            </a:pPr>
            <a:r>
              <a:rPr lang="en-US" sz="4800">
                <a:ea typeface="+mn-lt"/>
                <a:cs typeface="+mn-lt"/>
              </a:rPr>
              <a:t> Compared against min-batch, max-batch, Adam, and sleep-inspired Adam</a:t>
            </a:r>
            <a:endParaRPr lang="en-US" sz="4800"/>
          </a:p>
          <a:p>
            <a:pPr algn="l"/>
            <a:endParaRPr lang="en-US">
              <a:ea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52C45-F1D4-30F1-4ADA-92D8743B1ED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7EC66F2-EFB0-4405-A9A6-06BFEC485231}"/>
              </a:ext>
            </a:extLst>
          </p:cNvPr>
          <p:cNvSpPr/>
          <p:nvPr/>
        </p:nvSpPr>
        <p:spPr>
          <a:xfrm rot="2572396">
            <a:off x="11235381" y="469096"/>
            <a:ext cx="11298382" cy="10969702"/>
          </a:xfrm>
          <a:custGeom>
            <a:avLst/>
            <a:gdLst/>
            <a:ahLst/>
            <a:cxnLst/>
            <a:rect l="l" t="t" r="r" b="b"/>
            <a:pathLst>
              <a:path w="11298382" h="10969702">
                <a:moveTo>
                  <a:pt x="0" y="0"/>
                </a:moveTo>
                <a:lnTo>
                  <a:pt x="11298382" y="0"/>
                </a:lnTo>
                <a:lnTo>
                  <a:pt x="11298382" y="10969702"/>
                </a:lnTo>
                <a:lnTo>
                  <a:pt x="0" y="1096970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TextBox 4">
            <a:extLst>
              <a:ext uri="{FF2B5EF4-FFF2-40B4-BE49-F238E27FC236}">
                <a16:creationId xmlns:a16="http://schemas.microsoft.com/office/drawing/2014/main" id="{6AB690AB-82A4-29F9-7EF5-31A1C9E69629}"/>
              </a:ext>
            </a:extLst>
          </p:cNvPr>
          <p:cNvSpPr txBox="1"/>
          <p:nvPr/>
        </p:nvSpPr>
        <p:spPr>
          <a:xfrm>
            <a:off x="533400" y="339069"/>
            <a:ext cx="17621250" cy="1639873"/>
          </a:xfrm>
          <a:prstGeom prst="rect">
            <a:avLst/>
          </a:prstGeom>
        </p:spPr>
        <p:txBody>
          <a:bodyPr wrap="square" lIns="0" tIns="0" rIns="0" bIns="0" rtlCol="0" anchor="t">
            <a:spAutoFit/>
          </a:bodyPr>
          <a:lstStyle/>
          <a:p>
            <a:pPr algn="l">
              <a:lnSpc>
                <a:spcPts val="13439"/>
              </a:lnSpc>
              <a:spcBef>
                <a:spcPct val="0"/>
              </a:spcBef>
            </a:pPr>
            <a:r>
              <a:rPr lang="en-US" sz="8000">
                <a:solidFill>
                  <a:srgbClr val="3F0A74"/>
                </a:solidFill>
                <a:latin typeface="Radley"/>
                <a:ea typeface="Radley"/>
                <a:cs typeface="Radley"/>
                <a:sym typeface="Radley"/>
              </a:rPr>
              <a:t>Baseline vs Improved Models</a:t>
            </a:r>
          </a:p>
        </p:txBody>
      </p:sp>
      <p:sp>
        <p:nvSpPr>
          <p:cNvPr id="6" name="Freeform 6">
            <a:extLst>
              <a:ext uri="{FF2B5EF4-FFF2-40B4-BE49-F238E27FC236}">
                <a16:creationId xmlns:a16="http://schemas.microsoft.com/office/drawing/2014/main" id="{2084BA62-34C5-98D0-0A0F-3CEFC5EDDFD2}"/>
              </a:ext>
            </a:extLst>
          </p:cNvPr>
          <p:cNvSpPr/>
          <p:nvPr/>
        </p:nvSpPr>
        <p:spPr>
          <a:xfrm rot="6250127">
            <a:off x="7976835" y="2429563"/>
            <a:ext cx="16963354" cy="6160958"/>
          </a:xfrm>
          <a:custGeom>
            <a:avLst/>
            <a:gdLst/>
            <a:ahLst/>
            <a:cxnLst/>
            <a:rect l="l" t="t" r="r" b="b"/>
            <a:pathLst>
              <a:path w="16963354" h="6160958">
                <a:moveTo>
                  <a:pt x="0" y="0"/>
                </a:moveTo>
                <a:lnTo>
                  <a:pt x="16963354" y="0"/>
                </a:lnTo>
                <a:lnTo>
                  <a:pt x="16963354" y="6160958"/>
                </a:lnTo>
                <a:lnTo>
                  <a:pt x="0" y="616095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2">
            <a:extLst>
              <a:ext uri="{FF2B5EF4-FFF2-40B4-BE49-F238E27FC236}">
                <a16:creationId xmlns:a16="http://schemas.microsoft.com/office/drawing/2014/main" id="{F0961A96-359E-65E5-C5D5-51E65E0306D7}"/>
              </a:ext>
            </a:extLst>
          </p:cNvPr>
          <p:cNvSpPr txBox="1"/>
          <p:nvPr/>
        </p:nvSpPr>
        <p:spPr>
          <a:xfrm>
            <a:off x="533400" y="2555387"/>
            <a:ext cx="14653259" cy="59093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
              <a:buChar char="•"/>
            </a:pPr>
            <a:r>
              <a:rPr lang="en-US" sz="4800">
                <a:ea typeface="+mn-lt"/>
                <a:cs typeface="+mn-lt"/>
              </a:rPr>
              <a:t>Iris: sleep schedule tied fixed batch baseline at 93.3% </a:t>
            </a:r>
          </a:p>
          <a:p>
            <a:pPr marL="285750" indent="-285750">
              <a:lnSpc>
                <a:spcPct val="150000"/>
              </a:lnSpc>
              <a:buFont typeface="Arial"/>
              <a:buChar char="•"/>
            </a:pPr>
            <a:r>
              <a:rPr lang="en-US" sz="4800">
                <a:ea typeface="+mn-lt"/>
                <a:cs typeface="+mn-lt"/>
              </a:rPr>
              <a:t>Digits: sleep schedule improved 97.5% vs 96.4% </a:t>
            </a:r>
          </a:p>
          <a:p>
            <a:pPr marL="285750" indent="-285750">
              <a:lnSpc>
                <a:spcPct val="150000"/>
              </a:lnSpc>
              <a:buFont typeface="Arial"/>
              <a:buChar char="•"/>
            </a:pPr>
            <a:r>
              <a:rPr lang="en-US" sz="4800">
                <a:ea typeface="+mn-lt"/>
                <a:cs typeface="+mn-lt"/>
              </a:rPr>
              <a:t>CIFAR-100: sleep-SGD improved 50.96% vs 48.50% </a:t>
            </a:r>
          </a:p>
          <a:p>
            <a:pPr marL="285750" indent="-285750">
              <a:lnSpc>
                <a:spcPct val="150000"/>
              </a:lnSpc>
              <a:buFont typeface="Arial"/>
              <a:buChar char="•"/>
            </a:pPr>
            <a:r>
              <a:rPr lang="en-US" sz="4800">
                <a:ea typeface="+mn-lt"/>
                <a:cs typeface="+mn-lt"/>
              </a:rPr>
              <a:t>Small fixed batch performed best on CIFAR-100: 55.69% </a:t>
            </a:r>
          </a:p>
          <a:p>
            <a:pPr marL="285750" indent="-285750">
              <a:lnSpc>
                <a:spcPct val="150000"/>
              </a:lnSpc>
              <a:buFont typeface="Arial"/>
              <a:buChar char="•"/>
            </a:pPr>
            <a:r>
              <a:rPr lang="en-US" sz="4800">
                <a:ea typeface="+mn-lt"/>
                <a:cs typeface="+mn-lt"/>
              </a:rPr>
              <a:t>Sleep-inspired Adam performed poorly: 24.97%</a:t>
            </a:r>
          </a:p>
          <a:p>
            <a:pPr algn="l"/>
            <a:endParaRPr lang="en-US">
              <a:ea typeface="Calibri"/>
              <a:cs typeface="Calibri"/>
            </a:endParaRPr>
          </a:p>
        </p:txBody>
      </p:sp>
    </p:spTree>
    <p:extLst>
      <p:ext uri="{BB962C8B-B14F-4D97-AF65-F5344CB8AC3E}">
        <p14:creationId xmlns:p14="http://schemas.microsoft.com/office/powerpoint/2010/main" val="4187568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DF11F-3126-5871-50F7-43268281C47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731AEBE-014F-3D00-0336-FB8712958E71}"/>
              </a:ext>
            </a:extLst>
          </p:cNvPr>
          <p:cNvSpPr/>
          <p:nvPr/>
        </p:nvSpPr>
        <p:spPr>
          <a:xfrm rot="9301656">
            <a:off x="-6518332" y="3815114"/>
            <a:ext cx="11298382" cy="10969702"/>
          </a:xfrm>
          <a:custGeom>
            <a:avLst/>
            <a:gdLst/>
            <a:ahLst/>
            <a:cxnLst/>
            <a:rect l="l" t="t" r="r" b="b"/>
            <a:pathLst>
              <a:path w="11298382" h="10969702">
                <a:moveTo>
                  <a:pt x="0" y="0"/>
                </a:moveTo>
                <a:lnTo>
                  <a:pt x="11298382" y="0"/>
                </a:lnTo>
                <a:lnTo>
                  <a:pt x="11298382" y="10969702"/>
                </a:lnTo>
                <a:lnTo>
                  <a:pt x="0" y="1096970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a:extLst>
              <a:ext uri="{FF2B5EF4-FFF2-40B4-BE49-F238E27FC236}">
                <a16:creationId xmlns:a16="http://schemas.microsoft.com/office/drawing/2014/main" id="{4F22105D-ECC7-1323-EB5A-965D6F0E613E}"/>
              </a:ext>
            </a:extLst>
          </p:cNvPr>
          <p:cNvSpPr txBox="1"/>
          <p:nvPr/>
        </p:nvSpPr>
        <p:spPr>
          <a:xfrm>
            <a:off x="533400" y="339069"/>
            <a:ext cx="17621250" cy="1639873"/>
          </a:xfrm>
          <a:prstGeom prst="rect">
            <a:avLst/>
          </a:prstGeom>
        </p:spPr>
        <p:txBody>
          <a:bodyPr wrap="square" lIns="0" tIns="0" rIns="0" bIns="0" rtlCol="0" anchor="t">
            <a:spAutoFit/>
          </a:bodyPr>
          <a:lstStyle/>
          <a:p>
            <a:pPr algn="l">
              <a:lnSpc>
                <a:spcPts val="13439"/>
              </a:lnSpc>
              <a:spcBef>
                <a:spcPct val="0"/>
              </a:spcBef>
            </a:pPr>
            <a:r>
              <a:rPr lang="en-US" sz="8000">
                <a:solidFill>
                  <a:srgbClr val="3F0A74"/>
                </a:solidFill>
                <a:latin typeface="Radley"/>
                <a:ea typeface="Radley"/>
                <a:cs typeface="Radley"/>
                <a:sym typeface="Radley"/>
              </a:rPr>
              <a:t>Results</a:t>
            </a:r>
          </a:p>
        </p:txBody>
      </p:sp>
      <p:sp>
        <p:nvSpPr>
          <p:cNvPr id="6" name="Freeform 6">
            <a:extLst>
              <a:ext uri="{FF2B5EF4-FFF2-40B4-BE49-F238E27FC236}">
                <a16:creationId xmlns:a16="http://schemas.microsoft.com/office/drawing/2014/main" id="{329D8CBF-92FD-8EDB-4AFB-72C9AA7BBC4B}"/>
              </a:ext>
            </a:extLst>
          </p:cNvPr>
          <p:cNvSpPr/>
          <p:nvPr/>
        </p:nvSpPr>
        <p:spPr>
          <a:xfrm rot="-8620613">
            <a:off x="-6986194" y="6782162"/>
            <a:ext cx="16963354" cy="6160958"/>
          </a:xfrm>
          <a:custGeom>
            <a:avLst/>
            <a:gdLst/>
            <a:ahLst/>
            <a:cxnLst/>
            <a:rect l="l" t="t" r="r" b="b"/>
            <a:pathLst>
              <a:path w="16963354" h="6160958">
                <a:moveTo>
                  <a:pt x="0" y="0"/>
                </a:moveTo>
                <a:lnTo>
                  <a:pt x="16963354" y="0"/>
                </a:lnTo>
                <a:lnTo>
                  <a:pt x="16963354" y="6160958"/>
                </a:lnTo>
                <a:lnTo>
                  <a:pt x="0" y="616095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pic>
        <p:nvPicPr>
          <p:cNvPr id="7" name="Picture 6">
            <a:extLst>
              <a:ext uri="{FF2B5EF4-FFF2-40B4-BE49-F238E27FC236}">
                <a16:creationId xmlns:a16="http://schemas.microsoft.com/office/drawing/2014/main" id="{672A61B0-3704-7F84-E51A-9BE156DBD77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09270" y="1815004"/>
            <a:ext cx="12053417" cy="4236039"/>
          </a:xfrm>
          <a:prstGeom prst="rect">
            <a:avLst/>
          </a:prstGeom>
        </p:spPr>
      </p:pic>
      <p:pic>
        <p:nvPicPr>
          <p:cNvPr id="11" name="Picture 10">
            <a:extLst>
              <a:ext uri="{FF2B5EF4-FFF2-40B4-BE49-F238E27FC236}">
                <a16:creationId xmlns:a16="http://schemas.microsoft.com/office/drawing/2014/main" id="{AD30C6D8-D409-108A-09E5-0ED8BA73989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90735" y="6051043"/>
            <a:ext cx="11982449" cy="4211099"/>
          </a:xfrm>
          <a:prstGeom prst="rect">
            <a:avLst/>
          </a:prstGeom>
        </p:spPr>
      </p:pic>
      <p:graphicFrame>
        <p:nvGraphicFramePr>
          <p:cNvPr id="3" name="Table 2">
            <a:extLst>
              <a:ext uri="{FF2B5EF4-FFF2-40B4-BE49-F238E27FC236}">
                <a16:creationId xmlns:a16="http://schemas.microsoft.com/office/drawing/2014/main" id="{43523452-6214-00B4-3457-D8BCA7EF731F}"/>
              </a:ext>
            </a:extLst>
          </p:cNvPr>
          <p:cNvGraphicFramePr>
            <a:graphicFrameLocks noGrp="1"/>
          </p:cNvGraphicFramePr>
          <p:nvPr>
            <p:extLst>
              <p:ext uri="{D42A27DB-BD31-4B8C-83A1-F6EECF244321}">
                <p14:modId xmlns:p14="http://schemas.microsoft.com/office/powerpoint/2010/main" val="4103421162"/>
              </p:ext>
            </p:extLst>
          </p:nvPr>
        </p:nvGraphicFramePr>
        <p:xfrm>
          <a:off x="604502" y="2137565"/>
          <a:ext cx="5496730" cy="2123440"/>
        </p:xfrm>
        <a:graphic>
          <a:graphicData uri="http://schemas.openxmlformats.org/drawingml/2006/table">
            <a:tbl>
              <a:tblPr firstRow="1" bandRow="1">
                <a:tableStyleId>{D27102A9-8310-4765-A935-A1911B00CA55}</a:tableStyleId>
              </a:tblPr>
              <a:tblGrid>
                <a:gridCol w="2062498">
                  <a:extLst>
                    <a:ext uri="{9D8B030D-6E8A-4147-A177-3AD203B41FA5}">
                      <a16:colId xmlns:a16="http://schemas.microsoft.com/office/drawing/2014/main" val="2509015862"/>
                    </a:ext>
                  </a:extLst>
                </a:gridCol>
                <a:gridCol w="3434232">
                  <a:extLst>
                    <a:ext uri="{9D8B030D-6E8A-4147-A177-3AD203B41FA5}">
                      <a16:colId xmlns:a16="http://schemas.microsoft.com/office/drawing/2014/main" val="4227331894"/>
                    </a:ext>
                  </a:extLst>
                </a:gridCol>
              </a:tblGrid>
              <a:tr h="370840">
                <a:tc>
                  <a:txBody>
                    <a:bodyPr/>
                    <a:lstStyle/>
                    <a:p>
                      <a:r>
                        <a:rPr lang="en-US"/>
                        <a:t>Batch Schedule</a:t>
                      </a:r>
                    </a:p>
                  </a:txBody>
                  <a:tcPr/>
                </a:tc>
                <a:tc>
                  <a:txBody>
                    <a:bodyPr/>
                    <a:lstStyle/>
                    <a:p>
                      <a:r>
                        <a:rPr lang="en-US"/>
                        <a:t>Batch Size</a:t>
                      </a:r>
                    </a:p>
                  </a:txBody>
                  <a:tcPr/>
                </a:tc>
                <a:extLst>
                  <a:ext uri="{0D108BD9-81ED-4DB2-BD59-A6C34878D82A}">
                    <a16:rowId xmlns:a16="http://schemas.microsoft.com/office/drawing/2014/main" val="1118727591"/>
                  </a:ext>
                </a:extLst>
              </a:tr>
              <a:tr h="370840">
                <a:tc>
                  <a:txBody>
                    <a:bodyPr/>
                    <a:lstStyle/>
                    <a:p>
                      <a:r>
                        <a:rPr lang="en-US"/>
                        <a:t>Baseline Batch size</a:t>
                      </a:r>
                    </a:p>
                  </a:txBody>
                  <a:tcPr/>
                </a:tc>
                <a:tc>
                  <a:txBody>
                    <a:bodyPr/>
                    <a:lstStyle/>
                    <a:p>
                      <a:r>
                        <a:rPr lang="en-US"/>
                        <a:t>138</a:t>
                      </a:r>
                    </a:p>
                  </a:txBody>
                  <a:tcPr/>
                </a:tc>
                <a:extLst>
                  <a:ext uri="{0D108BD9-81ED-4DB2-BD59-A6C34878D82A}">
                    <a16:rowId xmlns:a16="http://schemas.microsoft.com/office/drawing/2014/main" val="62266532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Sleep-Inspired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[ 32  96  32 288  32  96  32 864  32  96  32 288  32  96  32]</a:t>
                      </a:r>
                    </a:p>
                  </a:txBody>
                  <a:tcPr/>
                </a:tc>
                <a:extLst>
                  <a:ext uri="{0D108BD9-81ED-4DB2-BD59-A6C34878D82A}">
                    <a16:rowId xmlns:a16="http://schemas.microsoft.com/office/drawing/2014/main" val="2192155256"/>
                  </a:ext>
                </a:extLst>
              </a:tr>
              <a:tr h="370840">
                <a:tc>
                  <a:txBody>
                    <a:bodyPr/>
                    <a:lstStyle/>
                    <a:p>
                      <a:r>
                        <a:rPr lang="en-US"/>
                        <a:t>Min Batch Size</a:t>
                      </a:r>
                    </a:p>
                  </a:txBody>
                  <a:tcPr/>
                </a:tc>
                <a:tc>
                  <a:txBody>
                    <a:bodyPr/>
                    <a:lstStyle/>
                    <a:p>
                      <a:r>
                        <a:rPr lang="en-US"/>
                        <a:t>32</a:t>
                      </a:r>
                    </a:p>
                  </a:txBody>
                  <a:tcPr/>
                </a:tc>
                <a:extLst>
                  <a:ext uri="{0D108BD9-81ED-4DB2-BD59-A6C34878D82A}">
                    <a16:rowId xmlns:a16="http://schemas.microsoft.com/office/drawing/2014/main" val="26545690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Max Batch Size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864</a:t>
                      </a:r>
                    </a:p>
                  </a:txBody>
                  <a:tcPr/>
                </a:tc>
                <a:extLst>
                  <a:ext uri="{0D108BD9-81ED-4DB2-BD59-A6C34878D82A}">
                    <a16:rowId xmlns:a16="http://schemas.microsoft.com/office/drawing/2014/main" val="1599107813"/>
                  </a:ext>
                </a:extLst>
              </a:tr>
            </a:tbl>
          </a:graphicData>
        </a:graphic>
      </p:graphicFrame>
      <p:graphicFrame>
        <p:nvGraphicFramePr>
          <p:cNvPr id="5" name="Table 4">
            <a:extLst>
              <a:ext uri="{FF2B5EF4-FFF2-40B4-BE49-F238E27FC236}">
                <a16:creationId xmlns:a16="http://schemas.microsoft.com/office/drawing/2014/main" id="{FCFD4B21-5EA8-A8B9-4A9F-11E5D07ED40B}"/>
              </a:ext>
            </a:extLst>
          </p:cNvPr>
          <p:cNvGraphicFramePr>
            <a:graphicFrameLocks noGrp="1"/>
          </p:cNvGraphicFramePr>
          <p:nvPr>
            <p:extLst>
              <p:ext uri="{D42A27DB-BD31-4B8C-83A1-F6EECF244321}">
                <p14:modId xmlns:p14="http://schemas.microsoft.com/office/powerpoint/2010/main" val="822507938"/>
              </p:ext>
            </p:extLst>
          </p:nvPr>
        </p:nvGraphicFramePr>
        <p:xfrm>
          <a:off x="520096" y="5369611"/>
          <a:ext cx="5496730" cy="2123440"/>
        </p:xfrm>
        <a:graphic>
          <a:graphicData uri="http://schemas.openxmlformats.org/drawingml/2006/table">
            <a:tbl>
              <a:tblPr firstRow="1" bandRow="1">
                <a:tableStyleId>{D27102A9-8310-4765-A935-A1911B00CA55}</a:tableStyleId>
              </a:tblPr>
              <a:tblGrid>
                <a:gridCol w="2146904">
                  <a:extLst>
                    <a:ext uri="{9D8B030D-6E8A-4147-A177-3AD203B41FA5}">
                      <a16:colId xmlns:a16="http://schemas.microsoft.com/office/drawing/2014/main" val="2509015862"/>
                    </a:ext>
                  </a:extLst>
                </a:gridCol>
                <a:gridCol w="3349826">
                  <a:extLst>
                    <a:ext uri="{9D8B030D-6E8A-4147-A177-3AD203B41FA5}">
                      <a16:colId xmlns:a16="http://schemas.microsoft.com/office/drawing/2014/main" val="4227331894"/>
                    </a:ext>
                  </a:extLst>
                </a:gridCol>
              </a:tblGrid>
              <a:tr h="370840">
                <a:tc>
                  <a:txBody>
                    <a:bodyPr/>
                    <a:lstStyle/>
                    <a:p>
                      <a:r>
                        <a:rPr lang="en-US"/>
                        <a:t>Batch Schedule</a:t>
                      </a:r>
                    </a:p>
                  </a:txBody>
                  <a:tcPr/>
                </a:tc>
                <a:tc>
                  <a:txBody>
                    <a:bodyPr/>
                    <a:lstStyle/>
                    <a:p>
                      <a:r>
                        <a:rPr lang="en-US"/>
                        <a:t>Batch Size</a:t>
                      </a:r>
                    </a:p>
                  </a:txBody>
                  <a:tcPr/>
                </a:tc>
                <a:extLst>
                  <a:ext uri="{0D108BD9-81ED-4DB2-BD59-A6C34878D82A}">
                    <a16:rowId xmlns:a16="http://schemas.microsoft.com/office/drawing/2014/main" val="3907042681"/>
                  </a:ext>
                </a:extLst>
              </a:tr>
              <a:tr h="370840">
                <a:tc>
                  <a:txBody>
                    <a:bodyPr/>
                    <a:lstStyle/>
                    <a:p>
                      <a:r>
                        <a:rPr lang="en-US"/>
                        <a:t>Baseline Batch size</a:t>
                      </a:r>
                    </a:p>
                  </a:txBody>
                  <a:tcPr/>
                </a:tc>
                <a:tc>
                  <a:txBody>
                    <a:bodyPr/>
                    <a:lstStyle/>
                    <a:p>
                      <a:r>
                        <a:rPr lang="en-US"/>
                        <a:t>69</a:t>
                      </a:r>
                    </a:p>
                  </a:txBody>
                  <a:tcPr/>
                </a:tc>
                <a:extLst>
                  <a:ext uri="{0D108BD9-81ED-4DB2-BD59-A6C34878D82A}">
                    <a16:rowId xmlns:a16="http://schemas.microsoft.com/office/drawing/2014/main" val="62266532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Sleep-Inspired</a:t>
                      </a:r>
                    </a:p>
                  </a:txBody>
                  <a:tcPr/>
                </a:tc>
                <a:tc>
                  <a:txBody>
                    <a:bodyPr/>
                    <a:lstStyle/>
                    <a:p>
                      <a:r>
                        <a:rPr lang="en-US"/>
                        <a:t>[ 16  48  16 144  16  48  16 432  16  48  16 144  16  48  16]</a:t>
                      </a:r>
                    </a:p>
                  </a:txBody>
                  <a:tcPr/>
                </a:tc>
                <a:extLst>
                  <a:ext uri="{0D108BD9-81ED-4DB2-BD59-A6C34878D82A}">
                    <a16:rowId xmlns:a16="http://schemas.microsoft.com/office/drawing/2014/main" val="2192155256"/>
                  </a:ext>
                </a:extLst>
              </a:tr>
              <a:tr h="370840">
                <a:tc>
                  <a:txBody>
                    <a:bodyPr/>
                    <a:lstStyle/>
                    <a:p>
                      <a:r>
                        <a:rPr lang="en-US"/>
                        <a:t>Min Batch Size</a:t>
                      </a:r>
                    </a:p>
                  </a:txBody>
                  <a:tcPr/>
                </a:tc>
                <a:tc>
                  <a:txBody>
                    <a:bodyPr/>
                    <a:lstStyle/>
                    <a:p>
                      <a:r>
                        <a:rPr lang="en-US"/>
                        <a:t>16</a:t>
                      </a:r>
                    </a:p>
                  </a:txBody>
                  <a:tcPr/>
                </a:tc>
                <a:extLst>
                  <a:ext uri="{0D108BD9-81ED-4DB2-BD59-A6C34878D82A}">
                    <a16:rowId xmlns:a16="http://schemas.microsoft.com/office/drawing/2014/main" val="26545690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Max Batch Size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432</a:t>
                      </a:r>
                    </a:p>
                  </a:txBody>
                  <a:tcPr/>
                </a:tc>
                <a:extLst>
                  <a:ext uri="{0D108BD9-81ED-4DB2-BD59-A6C34878D82A}">
                    <a16:rowId xmlns:a16="http://schemas.microsoft.com/office/drawing/2014/main" val="1599107813"/>
                  </a:ext>
                </a:extLst>
              </a:tr>
            </a:tbl>
          </a:graphicData>
        </a:graphic>
      </p:graphicFrame>
    </p:spTree>
    <p:extLst>
      <p:ext uri="{BB962C8B-B14F-4D97-AF65-F5344CB8AC3E}">
        <p14:creationId xmlns:p14="http://schemas.microsoft.com/office/powerpoint/2010/main" val="14112453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74FA9-284B-AFAD-B792-B59557F011E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402487C-BEB0-C02A-CCFA-03F1F1C9BD32}"/>
              </a:ext>
            </a:extLst>
          </p:cNvPr>
          <p:cNvSpPr/>
          <p:nvPr/>
        </p:nvSpPr>
        <p:spPr>
          <a:xfrm rot="9301656">
            <a:off x="-6518332" y="3815114"/>
            <a:ext cx="11298382" cy="10969702"/>
          </a:xfrm>
          <a:custGeom>
            <a:avLst/>
            <a:gdLst/>
            <a:ahLst/>
            <a:cxnLst/>
            <a:rect l="l" t="t" r="r" b="b"/>
            <a:pathLst>
              <a:path w="11298382" h="10969702">
                <a:moveTo>
                  <a:pt x="0" y="0"/>
                </a:moveTo>
                <a:lnTo>
                  <a:pt x="11298382" y="0"/>
                </a:lnTo>
                <a:lnTo>
                  <a:pt x="11298382" y="10969702"/>
                </a:lnTo>
                <a:lnTo>
                  <a:pt x="0" y="1096970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a:extLst>
              <a:ext uri="{FF2B5EF4-FFF2-40B4-BE49-F238E27FC236}">
                <a16:creationId xmlns:a16="http://schemas.microsoft.com/office/drawing/2014/main" id="{575D6C4A-528A-99E3-461B-558857A73CE6}"/>
              </a:ext>
            </a:extLst>
          </p:cNvPr>
          <p:cNvSpPr txBox="1"/>
          <p:nvPr/>
        </p:nvSpPr>
        <p:spPr>
          <a:xfrm>
            <a:off x="533400" y="339069"/>
            <a:ext cx="17621250" cy="1639873"/>
          </a:xfrm>
          <a:prstGeom prst="rect">
            <a:avLst/>
          </a:prstGeom>
        </p:spPr>
        <p:txBody>
          <a:bodyPr wrap="square" lIns="0" tIns="0" rIns="0" bIns="0" rtlCol="0" anchor="t">
            <a:spAutoFit/>
          </a:bodyPr>
          <a:lstStyle/>
          <a:p>
            <a:pPr algn="l">
              <a:lnSpc>
                <a:spcPts val="13439"/>
              </a:lnSpc>
              <a:spcBef>
                <a:spcPct val="0"/>
              </a:spcBef>
            </a:pPr>
            <a:r>
              <a:rPr lang="en-US" sz="8000">
                <a:solidFill>
                  <a:srgbClr val="3F0A74"/>
                </a:solidFill>
                <a:latin typeface="Radley"/>
                <a:ea typeface="Radley"/>
                <a:cs typeface="Radley"/>
                <a:sym typeface="Radley"/>
              </a:rPr>
              <a:t>Results cont.</a:t>
            </a:r>
          </a:p>
        </p:txBody>
      </p:sp>
      <p:sp>
        <p:nvSpPr>
          <p:cNvPr id="6" name="Freeform 6">
            <a:extLst>
              <a:ext uri="{FF2B5EF4-FFF2-40B4-BE49-F238E27FC236}">
                <a16:creationId xmlns:a16="http://schemas.microsoft.com/office/drawing/2014/main" id="{97706BE5-67E7-7A8A-D507-C2440A9B9CFF}"/>
              </a:ext>
            </a:extLst>
          </p:cNvPr>
          <p:cNvSpPr/>
          <p:nvPr/>
        </p:nvSpPr>
        <p:spPr>
          <a:xfrm rot="-8620613">
            <a:off x="-6986194" y="6782162"/>
            <a:ext cx="16963354" cy="6160958"/>
          </a:xfrm>
          <a:custGeom>
            <a:avLst/>
            <a:gdLst/>
            <a:ahLst/>
            <a:cxnLst/>
            <a:rect l="l" t="t" r="r" b="b"/>
            <a:pathLst>
              <a:path w="16963354" h="6160958">
                <a:moveTo>
                  <a:pt x="0" y="0"/>
                </a:moveTo>
                <a:lnTo>
                  <a:pt x="16963354" y="0"/>
                </a:lnTo>
                <a:lnTo>
                  <a:pt x="16963354" y="6160958"/>
                </a:lnTo>
                <a:lnTo>
                  <a:pt x="0" y="616095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aphicFrame>
        <p:nvGraphicFramePr>
          <p:cNvPr id="3" name="Table 2">
            <a:extLst>
              <a:ext uri="{FF2B5EF4-FFF2-40B4-BE49-F238E27FC236}">
                <a16:creationId xmlns:a16="http://schemas.microsoft.com/office/drawing/2014/main" id="{6FC64D0B-073E-0873-728A-ABE3DFCF1FDA}"/>
              </a:ext>
            </a:extLst>
          </p:cNvPr>
          <p:cNvGraphicFramePr>
            <a:graphicFrameLocks noGrp="1"/>
          </p:cNvGraphicFramePr>
          <p:nvPr>
            <p:extLst>
              <p:ext uri="{D42A27DB-BD31-4B8C-83A1-F6EECF244321}">
                <p14:modId xmlns:p14="http://schemas.microsoft.com/office/powerpoint/2010/main" val="3698246290"/>
              </p:ext>
            </p:extLst>
          </p:nvPr>
        </p:nvGraphicFramePr>
        <p:xfrm>
          <a:off x="8782482" y="2474653"/>
          <a:ext cx="9012642" cy="2595880"/>
        </p:xfrm>
        <a:graphic>
          <a:graphicData uri="http://schemas.openxmlformats.org/drawingml/2006/table">
            <a:tbl>
              <a:tblPr firstRow="1" bandRow="1">
                <a:tableStyleId>{00A15C55-8517-42AA-B614-E9B94910E393}</a:tableStyleId>
              </a:tblPr>
              <a:tblGrid>
                <a:gridCol w="3004214">
                  <a:extLst>
                    <a:ext uri="{9D8B030D-6E8A-4147-A177-3AD203B41FA5}">
                      <a16:colId xmlns:a16="http://schemas.microsoft.com/office/drawing/2014/main" val="4222619837"/>
                    </a:ext>
                  </a:extLst>
                </a:gridCol>
                <a:gridCol w="3004214">
                  <a:extLst>
                    <a:ext uri="{9D8B030D-6E8A-4147-A177-3AD203B41FA5}">
                      <a16:colId xmlns:a16="http://schemas.microsoft.com/office/drawing/2014/main" val="3298977961"/>
                    </a:ext>
                  </a:extLst>
                </a:gridCol>
                <a:gridCol w="3004214">
                  <a:extLst>
                    <a:ext uri="{9D8B030D-6E8A-4147-A177-3AD203B41FA5}">
                      <a16:colId xmlns:a16="http://schemas.microsoft.com/office/drawing/2014/main" val="1703115110"/>
                    </a:ext>
                  </a:extLst>
                </a:gridCol>
              </a:tblGrid>
              <a:tr h="370840">
                <a:tc>
                  <a:txBody>
                    <a:bodyPr/>
                    <a:lstStyle/>
                    <a:p>
                      <a:r>
                        <a:rPr lang="en-US"/>
                        <a:t>Method</a:t>
                      </a:r>
                    </a:p>
                  </a:txBody>
                  <a:tcPr/>
                </a:tc>
                <a:tc>
                  <a:txBody>
                    <a:bodyPr/>
                    <a:lstStyle/>
                    <a:p>
                      <a:r>
                        <a:rPr lang="en-US"/>
                        <a:t>Accuracy</a:t>
                      </a:r>
                    </a:p>
                  </a:txBody>
                  <a:tcPr/>
                </a:tc>
                <a:tc>
                  <a:txBody>
                    <a:bodyPr/>
                    <a:lstStyle/>
                    <a:p>
                      <a:r>
                        <a:rPr lang="en-US"/>
                        <a:t>Test Loss</a:t>
                      </a:r>
                    </a:p>
                  </a:txBody>
                  <a:tcPr/>
                </a:tc>
                <a:extLst>
                  <a:ext uri="{0D108BD9-81ED-4DB2-BD59-A6C34878D82A}">
                    <a16:rowId xmlns:a16="http://schemas.microsoft.com/office/drawing/2014/main" val="658316381"/>
                  </a:ext>
                </a:extLst>
              </a:tr>
              <a:tr h="370840">
                <a:tc>
                  <a:txBody>
                    <a:bodyPr/>
                    <a:lstStyle/>
                    <a:p>
                      <a:r>
                        <a:rPr lang="en-US"/>
                        <a:t>Baseline</a:t>
                      </a:r>
                    </a:p>
                  </a:txBody>
                  <a:tcPr/>
                </a:tc>
                <a:tc>
                  <a:txBody>
                    <a:bodyPr/>
                    <a:lstStyle/>
                    <a:p>
                      <a:r>
                        <a:rPr lang="en-US"/>
                        <a:t>0.4850</a:t>
                      </a:r>
                    </a:p>
                  </a:txBody>
                  <a:tcPr/>
                </a:tc>
                <a:tc>
                  <a:txBody>
                    <a:bodyPr/>
                    <a:lstStyle/>
                    <a:p>
                      <a:r>
                        <a:rPr lang="en-US"/>
                        <a:t>1.9338</a:t>
                      </a:r>
                    </a:p>
                  </a:txBody>
                  <a:tcPr/>
                </a:tc>
                <a:extLst>
                  <a:ext uri="{0D108BD9-81ED-4DB2-BD59-A6C34878D82A}">
                    <a16:rowId xmlns:a16="http://schemas.microsoft.com/office/drawing/2014/main" val="3695214191"/>
                  </a:ext>
                </a:extLst>
              </a:tr>
              <a:tr h="370840">
                <a:tc>
                  <a:txBody>
                    <a:bodyPr/>
                    <a:lstStyle/>
                    <a:p>
                      <a:r>
                        <a:rPr lang="en-US" sz="1800"/>
                        <a:t>Sleep-Inspired</a:t>
                      </a:r>
                    </a:p>
                  </a:txBody>
                  <a:tcPr/>
                </a:tc>
                <a:tc>
                  <a:txBody>
                    <a:bodyPr/>
                    <a:lstStyle/>
                    <a:p>
                      <a:r>
                        <a:rPr lang="en-US" b="1"/>
                        <a:t>0.5096</a:t>
                      </a:r>
                    </a:p>
                  </a:txBody>
                  <a:tcPr/>
                </a:tc>
                <a:tc>
                  <a:txBody>
                    <a:bodyPr/>
                    <a:lstStyle/>
                    <a:p>
                      <a:r>
                        <a:rPr lang="en-US"/>
                        <a:t>1.7968</a:t>
                      </a:r>
                    </a:p>
                  </a:txBody>
                  <a:tcPr/>
                </a:tc>
                <a:extLst>
                  <a:ext uri="{0D108BD9-81ED-4DB2-BD59-A6C34878D82A}">
                    <a16:rowId xmlns:a16="http://schemas.microsoft.com/office/drawing/2014/main" val="2108623396"/>
                  </a:ext>
                </a:extLst>
              </a:tr>
              <a:tr h="370840">
                <a:tc>
                  <a:txBody>
                    <a:bodyPr/>
                    <a:lstStyle/>
                    <a:p>
                      <a:r>
                        <a:rPr lang="en-US" sz="1800"/>
                        <a:t>Min Batch </a:t>
                      </a:r>
                      <a:endParaRPr lang="en-US"/>
                    </a:p>
                  </a:txBody>
                  <a:tcPr/>
                </a:tc>
                <a:tc>
                  <a:txBody>
                    <a:bodyPr/>
                    <a:lstStyle/>
                    <a:p>
                      <a:r>
                        <a:rPr lang="en-US" b="0">
                          <a:highlight>
                            <a:srgbClr val="FFFF00"/>
                          </a:highlight>
                        </a:rPr>
                        <a:t>0.5569</a:t>
                      </a:r>
                    </a:p>
                  </a:txBody>
                  <a:tcPr/>
                </a:tc>
                <a:tc>
                  <a:txBody>
                    <a:bodyPr/>
                    <a:lstStyle/>
                    <a:p>
                      <a:r>
                        <a:rPr lang="en-US"/>
                        <a:t>1.6228</a:t>
                      </a:r>
                    </a:p>
                  </a:txBody>
                  <a:tcPr/>
                </a:tc>
                <a:extLst>
                  <a:ext uri="{0D108BD9-81ED-4DB2-BD59-A6C34878D82A}">
                    <a16:rowId xmlns:a16="http://schemas.microsoft.com/office/drawing/2014/main" val="2986146917"/>
                  </a:ext>
                </a:extLst>
              </a:tr>
              <a:tr h="370840">
                <a:tc>
                  <a:txBody>
                    <a:bodyPr/>
                    <a:lstStyle/>
                    <a:p>
                      <a:r>
                        <a:rPr lang="en-US"/>
                        <a:t>Max Batch</a:t>
                      </a:r>
                    </a:p>
                  </a:txBody>
                  <a:tcPr/>
                </a:tc>
                <a:tc>
                  <a:txBody>
                    <a:bodyPr/>
                    <a:lstStyle/>
                    <a:p>
                      <a:r>
                        <a:rPr lang="en-US"/>
                        <a:t>0.2652</a:t>
                      </a:r>
                    </a:p>
                  </a:txBody>
                  <a:tcPr/>
                </a:tc>
                <a:tc>
                  <a:txBody>
                    <a:bodyPr/>
                    <a:lstStyle/>
                    <a:p>
                      <a:r>
                        <a:rPr lang="en-US"/>
                        <a:t>2.9037</a:t>
                      </a:r>
                    </a:p>
                  </a:txBody>
                  <a:tcPr/>
                </a:tc>
                <a:extLst>
                  <a:ext uri="{0D108BD9-81ED-4DB2-BD59-A6C34878D82A}">
                    <a16:rowId xmlns:a16="http://schemas.microsoft.com/office/drawing/2014/main" val="3768622875"/>
                  </a:ext>
                </a:extLst>
              </a:tr>
              <a:tr h="370840">
                <a:tc>
                  <a:txBody>
                    <a:bodyPr/>
                    <a:lstStyle/>
                    <a:p>
                      <a:r>
                        <a:rPr lang="en-US"/>
                        <a:t>Adam Baseline</a:t>
                      </a:r>
                    </a:p>
                  </a:txBody>
                  <a:tcPr/>
                </a:tc>
                <a:tc>
                  <a:txBody>
                    <a:bodyPr/>
                    <a:lstStyle/>
                    <a:p>
                      <a:r>
                        <a:rPr lang="en-US"/>
                        <a:t>0.4738</a:t>
                      </a:r>
                    </a:p>
                  </a:txBody>
                  <a:tcPr/>
                </a:tc>
                <a:tc>
                  <a:txBody>
                    <a:bodyPr/>
                    <a:lstStyle/>
                    <a:p>
                      <a:r>
                        <a:rPr lang="en-US"/>
                        <a:t>2.0673</a:t>
                      </a:r>
                    </a:p>
                  </a:txBody>
                  <a:tcPr/>
                </a:tc>
                <a:extLst>
                  <a:ext uri="{0D108BD9-81ED-4DB2-BD59-A6C34878D82A}">
                    <a16:rowId xmlns:a16="http://schemas.microsoft.com/office/drawing/2014/main" val="522311304"/>
                  </a:ext>
                </a:extLst>
              </a:tr>
              <a:tr h="370840">
                <a:tc>
                  <a:txBody>
                    <a:bodyPr/>
                    <a:lstStyle/>
                    <a:p>
                      <a:r>
                        <a:rPr lang="en-US"/>
                        <a:t>Sleep-Inspired Adam</a:t>
                      </a:r>
                    </a:p>
                  </a:txBody>
                  <a:tcPr/>
                </a:tc>
                <a:tc>
                  <a:txBody>
                    <a:bodyPr/>
                    <a:lstStyle/>
                    <a:p>
                      <a:r>
                        <a:rPr lang="en-US"/>
                        <a:t>0.2497</a:t>
                      </a:r>
                    </a:p>
                  </a:txBody>
                  <a:tcPr/>
                </a:tc>
                <a:tc>
                  <a:txBody>
                    <a:bodyPr/>
                    <a:lstStyle/>
                    <a:p>
                      <a:r>
                        <a:rPr lang="en-US"/>
                        <a:t>2.9433</a:t>
                      </a:r>
                    </a:p>
                  </a:txBody>
                  <a:tcPr/>
                </a:tc>
                <a:extLst>
                  <a:ext uri="{0D108BD9-81ED-4DB2-BD59-A6C34878D82A}">
                    <a16:rowId xmlns:a16="http://schemas.microsoft.com/office/drawing/2014/main" val="444894582"/>
                  </a:ext>
                </a:extLst>
              </a:tr>
            </a:tbl>
          </a:graphicData>
        </a:graphic>
      </p:graphicFrame>
      <p:graphicFrame>
        <p:nvGraphicFramePr>
          <p:cNvPr id="5" name="Table 4">
            <a:extLst>
              <a:ext uri="{FF2B5EF4-FFF2-40B4-BE49-F238E27FC236}">
                <a16:creationId xmlns:a16="http://schemas.microsoft.com/office/drawing/2014/main" id="{FAD8D749-0ABF-33B3-6D9F-0C64C3FBCC00}"/>
              </a:ext>
            </a:extLst>
          </p:cNvPr>
          <p:cNvGraphicFramePr>
            <a:graphicFrameLocks noGrp="1"/>
          </p:cNvGraphicFramePr>
          <p:nvPr>
            <p:extLst>
              <p:ext uri="{D42A27DB-BD31-4B8C-83A1-F6EECF244321}">
                <p14:modId xmlns:p14="http://schemas.microsoft.com/office/powerpoint/2010/main" val="747694486"/>
              </p:ext>
            </p:extLst>
          </p:nvPr>
        </p:nvGraphicFramePr>
        <p:xfrm>
          <a:off x="8782482" y="5753100"/>
          <a:ext cx="9012642" cy="2595880"/>
        </p:xfrm>
        <a:graphic>
          <a:graphicData uri="http://schemas.openxmlformats.org/drawingml/2006/table">
            <a:tbl>
              <a:tblPr firstRow="1" bandRow="1">
                <a:tableStyleId>{00A15C55-8517-42AA-B614-E9B94910E393}</a:tableStyleId>
              </a:tblPr>
              <a:tblGrid>
                <a:gridCol w="3004214">
                  <a:extLst>
                    <a:ext uri="{9D8B030D-6E8A-4147-A177-3AD203B41FA5}">
                      <a16:colId xmlns:a16="http://schemas.microsoft.com/office/drawing/2014/main" val="4222619837"/>
                    </a:ext>
                  </a:extLst>
                </a:gridCol>
                <a:gridCol w="3004214">
                  <a:extLst>
                    <a:ext uri="{9D8B030D-6E8A-4147-A177-3AD203B41FA5}">
                      <a16:colId xmlns:a16="http://schemas.microsoft.com/office/drawing/2014/main" val="3298977961"/>
                    </a:ext>
                  </a:extLst>
                </a:gridCol>
                <a:gridCol w="3004214">
                  <a:extLst>
                    <a:ext uri="{9D8B030D-6E8A-4147-A177-3AD203B41FA5}">
                      <a16:colId xmlns:a16="http://schemas.microsoft.com/office/drawing/2014/main" val="1703115110"/>
                    </a:ext>
                  </a:extLst>
                </a:gridCol>
              </a:tblGrid>
              <a:tr h="370840">
                <a:tc>
                  <a:txBody>
                    <a:bodyPr/>
                    <a:lstStyle/>
                    <a:p>
                      <a:r>
                        <a:rPr lang="en-US"/>
                        <a:t>Method</a:t>
                      </a:r>
                    </a:p>
                  </a:txBody>
                  <a:tcPr/>
                </a:tc>
                <a:tc>
                  <a:txBody>
                    <a:bodyPr/>
                    <a:lstStyle/>
                    <a:p>
                      <a:r>
                        <a:rPr lang="en-US"/>
                        <a:t>Accuracy</a:t>
                      </a:r>
                    </a:p>
                  </a:txBody>
                  <a:tcPr/>
                </a:tc>
                <a:tc>
                  <a:txBody>
                    <a:bodyPr/>
                    <a:lstStyle/>
                    <a:p>
                      <a:r>
                        <a:rPr lang="en-US"/>
                        <a:t>Test Loss</a:t>
                      </a:r>
                    </a:p>
                  </a:txBody>
                  <a:tcPr/>
                </a:tc>
                <a:extLst>
                  <a:ext uri="{0D108BD9-81ED-4DB2-BD59-A6C34878D82A}">
                    <a16:rowId xmlns:a16="http://schemas.microsoft.com/office/drawing/2014/main" val="658316381"/>
                  </a:ext>
                </a:extLst>
              </a:tr>
              <a:tr h="370840">
                <a:tc>
                  <a:txBody>
                    <a:bodyPr/>
                    <a:lstStyle/>
                    <a:p>
                      <a:r>
                        <a:rPr lang="en-US"/>
                        <a:t>Baseline</a:t>
                      </a:r>
                    </a:p>
                  </a:txBody>
                  <a:tcPr/>
                </a:tc>
                <a:tc>
                  <a:txBody>
                    <a:bodyPr/>
                    <a:lstStyle/>
                    <a:p>
                      <a:r>
                        <a:rPr lang="en-US"/>
                        <a:t>0.5127</a:t>
                      </a:r>
                    </a:p>
                  </a:txBody>
                  <a:tcPr/>
                </a:tc>
                <a:tc>
                  <a:txBody>
                    <a:bodyPr/>
                    <a:lstStyle/>
                    <a:p>
                      <a:r>
                        <a:rPr lang="en-US"/>
                        <a:t>1.7926</a:t>
                      </a:r>
                    </a:p>
                  </a:txBody>
                  <a:tcPr/>
                </a:tc>
                <a:extLst>
                  <a:ext uri="{0D108BD9-81ED-4DB2-BD59-A6C34878D82A}">
                    <a16:rowId xmlns:a16="http://schemas.microsoft.com/office/drawing/2014/main" val="3695214191"/>
                  </a:ext>
                </a:extLst>
              </a:tr>
              <a:tr h="370840">
                <a:tc>
                  <a:txBody>
                    <a:bodyPr/>
                    <a:lstStyle/>
                    <a:p>
                      <a:r>
                        <a:rPr lang="en-US" sz="1800"/>
                        <a:t>Sleep-Inspired</a:t>
                      </a:r>
                    </a:p>
                  </a:txBody>
                  <a:tcPr/>
                </a:tc>
                <a:tc>
                  <a:txBody>
                    <a:bodyPr/>
                    <a:lstStyle/>
                    <a:p>
                      <a:r>
                        <a:rPr lang="en-US" b="1"/>
                        <a:t>0.5082</a:t>
                      </a:r>
                    </a:p>
                  </a:txBody>
                  <a:tcPr/>
                </a:tc>
                <a:tc>
                  <a:txBody>
                    <a:bodyPr/>
                    <a:lstStyle/>
                    <a:p>
                      <a:r>
                        <a:rPr lang="en-US"/>
                        <a:t>1.8006</a:t>
                      </a:r>
                    </a:p>
                  </a:txBody>
                  <a:tcPr/>
                </a:tc>
                <a:extLst>
                  <a:ext uri="{0D108BD9-81ED-4DB2-BD59-A6C34878D82A}">
                    <a16:rowId xmlns:a16="http://schemas.microsoft.com/office/drawing/2014/main" val="2108623396"/>
                  </a:ext>
                </a:extLst>
              </a:tr>
              <a:tr h="370840">
                <a:tc>
                  <a:txBody>
                    <a:bodyPr/>
                    <a:lstStyle/>
                    <a:p>
                      <a:r>
                        <a:rPr lang="en-US" sz="1800"/>
                        <a:t>Min Batch </a:t>
                      </a:r>
                      <a:endParaRPr lang="en-US"/>
                    </a:p>
                  </a:txBody>
                  <a:tcPr/>
                </a:tc>
                <a:tc>
                  <a:txBody>
                    <a:bodyPr/>
                    <a:lstStyle/>
                    <a:p>
                      <a:r>
                        <a:rPr lang="en-US" b="0">
                          <a:highlight>
                            <a:srgbClr val="FFFF00"/>
                          </a:highlight>
                        </a:rPr>
                        <a:t>0.5453</a:t>
                      </a:r>
                    </a:p>
                  </a:txBody>
                  <a:tcPr/>
                </a:tc>
                <a:tc>
                  <a:txBody>
                    <a:bodyPr/>
                    <a:lstStyle/>
                    <a:p>
                      <a:r>
                        <a:rPr lang="en-US"/>
                        <a:t>1.6772</a:t>
                      </a:r>
                    </a:p>
                  </a:txBody>
                  <a:tcPr/>
                </a:tc>
                <a:extLst>
                  <a:ext uri="{0D108BD9-81ED-4DB2-BD59-A6C34878D82A}">
                    <a16:rowId xmlns:a16="http://schemas.microsoft.com/office/drawing/2014/main" val="2986146917"/>
                  </a:ext>
                </a:extLst>
              </a:tr>
              <a:tr h="370840">
                <a:tc>
                  <a:txBody>
                    <a:bodyPr/>
                    <a:lstStyle/>
                    <a:p>
                      <a:r>
                        <a:rPr lang="en-US"/>
                        <a:t>Max Batch</a:t>
                      </a:r>
                    </a:p>
                  </a:txBody>
                  <a:tcPr/>
                </a:tc>
                <a:tc>
                  <a:txBody>
                    <a:bodyPr/>
                    <a:lstStyle/>
                    <a:p>
                      <a:r>
                        <a:rPr lang="en-US"/>
                        <a:t>0.3419</a:t>
                      </a:r>
                    </a:p>
                  </a:txBody>
                  <a:tcPr/>
                </a:tc>
                <a:tc>
                  <a:txBody>
                    <a:bodyPr/>
                    <a:lstStyle/>
                    <a:p>
                      <a:r>
                        <a:rPr lang="en-US"/>
                        <a:t>2.6000</a:t>
                      </a:r>
                    </a:p>
                  </a:txBody>
                  <a:tcPr/>
                </a:tc>
                <a:extLst>
                  <a:ext uri="{0D108BD9-81ED-4DB2-BD59-A6C34878D82A}">
                    <a16:rowId xmlns:a16="http://schemas.microsoft.com/office/drawing/2014/main" val="3768622875"/>
                  </a:ext>
                </a:extLst>
              </a:tr>
              <a:tr h="370840">
                <a:tc>
                  <a:txBody>
                    <a:bodyPr/>
                    <a:lstStyle/>
                    <a:p>
                      <a:r>
                        <a:rPr lang="en-US"/>
                        <a:t>Adam Baseline</a:t>
                      </a:r>
                    </a:p>
                  </a:txBody>
                  <a:tcPr/>
                </a:tc>
                <a:tc>
                  <a:txBody>
                    <a:bodyPr/>
                    <a:lstStyle/>
                    <a:p>
                      <a:r>
                        <a:rPr lang="en-US"/>
                        <a:t>0.4368</a:t>
                      </a:r>
                    </a:p>
                  </a:txBody>
                  <a:tcPr/>
                </a:tc>
                <a:tc>
                  <a:txBody>
                    <a:bodyPr/>
                    <a:lstStyle/>
                    <a:p>
                      <a:r>
                        <a:rPr lang="en-US"/>
                        <a:t>2.1034</a:t>
                      </a:r>
                    </a:p>
                  </a:txBody>
                  <a:tcPr/>
                </a:tc>
                <a:extLst>
                  <a:ext uri="{0D108BD9-81ED-4DB2-BD59-A6C34878D82A}">
                    <a16:rowId xmlns:a16="http://schemas.microsoft.com/office/drawing/2014/main" val="522311304"/>
                  </a:ext>
                </a:extLst>
              </a:tr>
              <a:tr h="370840">
                <a:tc>
                  <a:txBody>
                    <a:bodyPr/>
                    <a:lstStyle/>
                    <a:p>
                      <a:r>
                        <a:rPr lang="en-US"/>
                        <a:t>Sleep-Inspired Adam</a:t>
                      </a:r>
                    </a:p>
                  </a:txBody>
                  <a:tcPr/>
                </a:tc>
                <a:tc>
                  <a:txBody>
                    <a:bodyPr/>
                    <a:lstStyle/>
                    <a:p>
                      <a:r>
                        <a:rPr lang="en-US"/>
                        <a:t>0.0100</a:t>
                      </a:r>
                    </a:p>
                  </a:txBody>
                  <a:tcPr/>
                </a:tc>
                <a:tc>
                  <a:txBody>
                    <a:bodyPr/>
                    <a:lstStyle/>
                    <a:p>
                      <a:r>
                        <a:rPr lang="en-US"/>
                        <a:t>4.6110</a:t>
                      </a:r>
                    </a:p>
                  </a:txBody>
                  <a:tcPr/>
                </a:tc>
                <a:extLst>
                  <a:ext uri="{0D108BD9-81ED-4DB2-BD59-A6C34878D82A}">
                    <a16:rowId xmlns:a16="http://schemas.microsoft.com/office/drawing/2014/main" val="444894582"/>
                  </a:ext>
                </a:extLst>
              </a:tr>
            </a:tbl>
          </a:graphicData>
        </a:graphic>
      </p:graphicFrame>
      <p:graphicFrame>
        <p:nvGraphicFramePr>
          <p:cNvPr id="7" name="Table 6">
            <a:extLst>
              <a:ext uri="{FF2B5EF4-FFF2-40B4-BE49-F238E27FC236}">
                <a16:creationId xmlns:a16="http://schemas.microsoft.com/office/drawing/2014/main" id="{482EE61B-55EB-4374-F3D0-F1FF4F993AE1}"/>
              </a:ext>
            </a:extLst>
          </p:cNvPr>
          <p:cNvGraphicFramePr>
            <a:graphicFrameLocks noGrp="1"/>
          </p:cNvGraphicFramePr>
          <p:nvPr>
            <p:extLst>
              <p:ext uri="{D42A27DB-BD31-4B8C-83A1-F6EECF244321}">
                <p14:modId xmlns:p14="http://schemas.microsoft.com/office/powerpoint/2010/main" val="421864622"/>
              </p:ext>
            </p:extLst>
          </p:nvPr>
        </p:nvGraphicFramePr>
        <p:xfrm>
          <a:off x="694006" y="2521054"/>
          <a:ext cx="7516976" cy="2123440"/>
        </p:xfrm>
        <a:graphic>
          <a:graphicData uri="http://schemas.openxmlformats.org/drawingml/2006/table">
            <a:tbl>
              <a:tblPr firstRow="1" bandRow="1">
                <a:tableStyleId>{D27102A9-8310-4765-A935-A1911B00CA55}</a:tableStyleId>
              </a:tblPr>
              <a:tblGrid>
                <a:gridCol w="2430194">
                  <a:extLst>
                    <a:ext uri="{9D8B030D-6E8A-4147-A177-3AD203B41FA5}">
                      <a16:colId xmlns:a16="http://schemas.microsoft.com/office/drawing/2014/main" val="2509015862"/>
                    </a:ext>
                  </a:extLst>
                </a:gridCol>
                <a:gridCol w="5086782">
                  <a:extLst>
                    <a:ext uri="{9D8B030D-6E8A-4147-A177-3AD203B41FA5}">
                      <a16:colId xmlns:a16="http://schemas.microsoft.com/office/drawing/2014/main" val="4227331894"/>
                    </a:ext>
                  </a:extLst>
                </a:gridCol>
              </a:tblGrid>
              <a:tr h="370840">
                <a:tc>
                  <a:txBody>
                    <a:bodyPr/>
                    <a:lstStyle/>
                    <a:p>
                      <a:r>
                        <a:rPr lang="en-US"/>
                        <a:t>Batch Schedule</a:t>
                      </a:r>
                    </a:p>
                  </a:txBody>
                  <a:tcPr/>
                </a:tc>
                <a:tc>
                  <a:txBody>
                    <a:bodyPr/>
                    <a:lstStyle/>
                    <a:p>
                      <a:r>
                        <a:rPr lang="en-US"/>
                        <a:t>Batch Size</a:t>
                      </a:r>
                    </a:p>
                  </a:txBody>
                  <a:tcPr/>
                </a:tc>
                <a:extLst>
                  <a:ext uri="{0D108BD9-81ED-4DB2-BD59-A6C34878D82A}">
                    <a16:rowId xmlns:a16="http://schemas.microsoft.com/office/drawing/2014/main" val="1118727591"/>
                  </a:ext>
                </a:extLst>
              </a:tr>
              <a:tr h="370840">
                <a:tc>
                  <a:txBody>
                    <a:bodyPr/>
                    <a:lstStyle/>
                    <a:p>
                      <a:r>
                        <a:rPr lang="en-US"/>
                        <a:t>Baseline Batch size</a:t>
                      </a:r>
                    </a:p>
                  </a:txBody>
                  <a:tcPr/>
                </a:tc>
                <a:tc>
                  <a:txBody>
                    <a:bodyPr/>
                    <a:lstStyle/>
                    <a:p>
                      <a:r>
                        <a:rPr lang="en-US"/>
                        <a:t>138</a:t>
                      </a:r>
                    </a:p>
                  </a:txBody>
                  <a:tcPr/>
                </a:tc>
                <a:extLst>
                  <a:ext uri="{0D108BD9-81ED-4DB2-BD59-A6C34878D82A}">
                    <a16:rowId xmlns:a16="http://schemas.microsoft.com/office/drawing/2014/main" val="62266532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Sleep-Inspired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[ 32  96  32 288  32  96  32 864  32  96  32 288  32  96  32]</a:t>
                      </a:r>
                    </a:p>
                  </a:txBody>
                  <a:tcPr/>
                </a:tc>
                <a:extLst>
                  <a:ext uri="{0D108BD9-81ED-4DB2-BD59-A6C34878D82A}">
                    <a16:rowId xmlns:a16="http://schemas.microsoft.com/office/drawing/2014/main" val="2192155256"/>
                  </a:ext>
                </a:extLst>
              </a:tr>
              <a:tr h="370840">
                <a:tc>
                  <a:txBody>
                    <a:bodyPr/>
                    <a:lstStyle/>
                    <a:p>
                      <a:r>
                        <a:rPr lang="en-US"/>
                        <a:t>Min Batch Size</a:t>
                      </a:r>
                    </a:p>
                  </a:txBody>
                  <a:tcPr/>
                </a:tc>
                <a:tc>
                  <a:txBody>
                    <a:bodyPr/>
                    <a:lstStyle/>
                    <a:p>
                      <a:r>
                        <a:rPr lang="en-US"/>
                        <a:t>32</a:t>
                      </a:r>
                    </a:p>
                  </a:txBody>
                  <a:tcPr/>
                </a:tc>
                <a:extLst>
                  <a:ext uri="{0D108BD9-81ED-4DB2-BD59-A6C34878D82A}">
                    <a16:rowId xmlns:a16="http://schemas.microsoft.com/office/drawing/2014/main" val="26545690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Max Batch Size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864</a:t>
                      </a:r>
                    </a:p>
                  </a:txBody>
                  <a:tcPr/>
                </a:tc>
                <a:extLst>
                  <a:ext uri="{0D108BD9-81ED-4DB2-BD59-A6C34878D82A}">
                    <a16:rowId xmlns:a16="http://schemas.microsoft.com/office/drawing/2014/main" val="1599107813"/>
                  </a:ext>
                </a:extLst>
              </a:tr>
            </a:tbl>
          </a:graphicData>
        </a:graphic>
      </p:graphicFrame>
      <p:graphicFrame>
        <p:nvGraphicFramePr>
          <p:cNvPr id="10" name="Table 9">
            <a:extLst>
              <a:ext uri="{FF2B5EF4-FFF2-40B4-BE49-F238E27FC236}">
                <a16:creationId xmlns:a16="http://schemas.microsoft.com/office/drawing/2014/main" id="{4A9309DD-47C3-2903-1D05-C90CA387007F}"/>
              </a:ext>
            </a:extLst>
          </p:cNvPr>
          <p:cNvGraphicFramePr>
            <a:graphicFrameLocks noGrp="1"/>
          </p:cNvGraphicFramePr>
          <p:nvPr>
            <p:extLst>
              <p:ext uri="{D42A27DB-BD31-4B8C-83A1-F6EECF244321}">
                <p14:modId xmlns:p14="http://schemas.microsoft.com/office/powerpoint/2010/main" val="3313232362"/>
              </p:ext>
            </p:extLst>
          </p:nvPr>
        </p:nvGraphicFramePr>
        <p:xfrm>
          <a:off x="609600" y="5753100"/>
          <a:ext cx="7516976" cy="2123440"/>
        </p:xfrm>
        <a:graphic>
          <a:graphicData uri="http://schemas.openxmlformats.org/drawingml/2006/table">
            <a:tbl>
              <a:tblPr firstRow="1" bandRow="1">
                <a:tableStyleId>{D27102A9-8310-4765-A935-A1911B00CA55}</a:tableStyleId>
              </a:tblPr>
              <a:tblGrid>
                <a:gridCol w="2514600">
                  <a:extLst>
                    <a:ext uri="{9D8B030D-6E8A-4147-A177-3AD203B41FA5}">
                      <a16:colId xmlns:a16="http://schemas.microsoft.com/office/drawing/2014/main" val="2509015862"/>
                    </a:ext>
                  </a:extLst>
                </a:gridCol>
                <a:gridCol w="5002376">
                  <a:extLst>
                    <a:ext uri="{9D8B030D-6E8A-4147-A177-3AD203B41FA5}">
                      <a16:colId xmlns:a16="http://schemas.microsoft.com/office/drawing/2014/main" val="4227331894"/>
                    </a:ext>
                  </a:extLst>
                </a:gridCol>
              </a:tblGrid>
              <a:tr h="370840">
                <a:tc>
                  <a:txBody>
                    <a:bodyPr/>
                    <a:lstStyle/>
                    <a:p>
                      <a:r>
                        <a:rPr lang="en-US"/>
                        <a:t>Batch Schedule</a:t>
                      </a:r>
                    </a:p>
                  </a:txBody>
                  <a:tcPr/>
                </a:tc>
                <a:tc>
                  <a:txBody>
                    <a:bodyPr/>
                    <a:lstStyle/>
                    <a:p>
                      <a:r>
                        <a:rPr lang="en-US"/>
                        <a:t>Batch Size</a:t>
                      </a:r>
                    </a:p>
                  </a:txBody>
                  <a:tcPr/>
                </a:tc>
                <a:extLst>
                  <a:ext uri="{0D108BD9-81ED-4DB2-BD59-A6C34878D82A}">
                    <a16:rowId xmlns:a16="http://schemas.microsoft.com/office/drawing/2014/main" val="3907042681"/>
                  </a:ext>
                </a:extLst>
              </a:tr>
              <a:tr h="370840">
                <a:tc>
                  <a:txBody>
                    <a:bodyPr/>
                    <a:lstStyle/>
                    <a:p>
                      <a:r>
                        <a:rPr lang="en-US"/>
                        <a:t>Baseline Batch size</a:t>
                      </a:r>
                    </a:p>
                  </a:txBody>
                  <a:tcPr/>
                </a:tc>
                <a:tc>
                  <a:txBody>
                    <a:bodyPr/>
                    <a:lstStyle/>
                    <a:p>
                      <a:r>
                        <a:rPr lang="en-US"/>
                        <a:t>69</a:t>
                      </a:r>
                    </a:p>
                  </a:txBody>
                  <a:tcPr/>
                </a:tc>
                <a:extLst>
                  <a:ext uri="{0D108BD9-81ED-4DB2-BD59-A6C34878D82A}">
                    <a16:rowId xmlns:a16="http://schemas.microsoft.com/office/drawing/2014/main" val="62266532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Sleep-Inspired</a:t>
                      </a:r>
                    </a:p>
                  </a:txBody>
                  <a:tcPr/>
                </a:tc>
                <a:tc>
                  <a:txBody>
                    <a:bodyPr/>
                    <a:lstStyle/>
                    <a:p>
                      <a:r>
                        <a:rPr lang="en-US"/>
                        <a:t>[ 16  48  16 144  16  48  16 432  16  48  16 144  16  48  16]</a:t>
                      </a:r>
                    </a:p>
                  </a:txBody>
                  <a:tcPr/>
                </a:tc>
                <a:extLst>
                  <a:ext uri="{0D108BD9-81ED-4DB2-BD59-A6C34878D82A}">
                    <a16:rowId xmlns:a16="http://schemas.microsoft.com/office/drawing/2014/main" val="2192155256"/>
                  </a:ext>
                </a:extLst>
              </a:tr>
              <a:tr h="370840">
                <a:tc>
                  <a:txBody>
                    <a:bodyPr/>
                    <a:lstStyle/>
                    <a:p>
                      <a:r>
                        <a:rPr lang="en-US"/>
                        <a:t>Min Batch Size</a:t>
                      </a:r>
                    </a:p>
                  </a:txBody>
                  <a:tcPr/>
                </a:tc>
                <a:tc>
                  <a:txBody>
                    <a:bodyPr/>
                    <a:lstStyle/>
                    <a:p>
                      <a:r>
                        <a:rPr lang="en-US"/>
                        <a:t>16</a:t>
                      </a:r>
                    </a:p>
                  </a:txBody>
                  <a:tcPr/>
                </a:tc>
                <a:extLst>
                  <a:ext uri="{0D108BD9-81ED-4DB2-BD59-A6C34878D82A}">
                    <a16:rowId xmlns:a16="http://schemas.microsoft.com/office/drawing/2014/main" val="26545690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Max Batch Size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432</a:t>
                      </a:r>
                    </a:p>
                  </a:txBody>
                  <a:tcPr/>
                </a:tc>
                <a:extLst>
                  <a:ext uri="{0D108BD9-81ED-4DB2-BD59-A6C34878D82A}">
                    <a16:rowId xmlns:a16="http://schemas.microsoft.com/office/drawing/2014/main" val="1599107813"/>
                  </a:ext>
                </a:extLst>
              </a:tr>
            </a:tbl>
          </a:graphicData>
        </a:graphic>
      </p:graphicFrame>
    </p:spTree>
    <p:extLst>
      <p:ext uri="{BB962C8B-B14F-4D97-AF65-F5344CB8AC3E}">
        <p14:creationId xmlns:p14="http://schemas.microsoft.com/office/powerpoint/2010/main" val="12872640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D2B3D-22AF-51BA-A2D4-190ADD61AE7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EC285D1-3401-61D5-A651-8EB0A4E41E8C}"/>
              </a:ext>
            </a:extLst>
          </p:cNvPr>
          <p:cNvSpPr/>
          <p:nvPr/>
        </p:nvSpPr>
        <p:spPr>
          <a:xfrm rot="4306329">
            <a:off x="11486584" y="523289"/>
            <a:ext cx="12579782" cy="9240422"/>
          </a:xfrm>
          <a:custGeom>
            <a:avLst/>
            <a:gdLst/>
            <a:ahLst/>
            <a:cxnLst/>
            <a:rect l="l" t="t" r="r" b="b"/>
            <a:pathLst>
              <a:path w="12579782" h="9240422">
                <a:moveTo>
                  <a:pt x="0" y="0"/>
                </a:moveTo>
                <a:lnTo>
                  <a:pt x="12579783" y="0"/>
                </a:lnTo>
                <a:lnTo>
                  <a:pt x="12579783" y="9240422"/>
                </a:lnTo>
                <a:lnTo>
                  <a:pt x="0" y="924042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4A1B7DC2-71F5-BA94-B964-62BDDBF4B538}"/>
              </a:ext>
            </a:extLst>
          </p:cNvPr>
          <p:cNvSpPr/>
          <p:nvPr/>
        </p:nvSpPr>
        <p:spPr>
          <a:xfrm rot="4823671">
            <a:off x="8862938" y="2146377"/>
            <a:ext cx="16963354" cy="6160958"/>
          </a:xfrm>
          <a:custGeom>
            <a:avLst/>
            <a:gdLst/>
            <a:ahLst/>
            <a:cxnLst/>
            <a:rect l="l" t="t" r="r" b="b"/>
            <a:pathLst>
              <a:path w="16963354" h="6160958">
                <a:moveTo>
                  <a:pt x="0" y="0"/>
                </a:moveTo>
                <a:lnTo>
                  <a:pt x="16963354" y="0"/>
                </a:lnTo>
                <a:lnTo>
                  <a:pt x="16963354" y="6160957"/>
                </a:lnTo>
                <a:lnTo>
                  <a:pt x="0" y="616095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TextBox 6">
            <a:extLst>
              <a:ext uri="{FF2B5EF4-FFF2-40B4-BE49-F238E27FC236}">
                <a16:creationId xmlns:a16="http://schemas.microsoft.com/office/drawing/2014/main" id="{10FB32F2-B7BE-52F5-0C2D-4A97E7C8D012}"/>
              </a:ext>
            </a:extLst>
          </p:cNvPr>
          <p:cNvSpPr txBox="1"/>
          <p:nvPr/>
        </p:nvSpPr>
        <p:spPr>
          <a:xfrm>
            <a:off x="669471" y="495300"/>
            <a:ext cx="10734848" cy="1639873"/>
          </a:xfrm>
          <a:prstGeom prst="rect">
            <a:avLst/>
          </a:prstGeom>
        </p:spPr>
        <p:txBody>
          <a:bodyPr wrap="square" lIns="0" tIns="0" rIns="0" bIns="0" rtlCol="0" anchor="t">
            <a:spAutoFit/>
          </a:bodyPr>
          <a:lstStyle/>
          <a:p>
            <a:pPr algn="l">
              <a:lnSpc>
                <a:spcPts val="13439"/>
              </a:lnSpc>
              <a:spcBef>
                <a:spcPct val="0"/>
              </a:spcBef>
            </a:pPr>
            <a:r>
              <a:rPr lang="en-US" sz="8000">
                <a:solidFill>
                  <a:srgbClr val="3F0A74"/>
                </a:solidFill>
                <a:latin typeface="Radley"/>
                <a:ea typeface="Radley"/>
                <a:cs typeface="Radley"/>
                <a:sym typeface="Radley"/>
              </a:rPr>
              <a:t>Conclusions</a:t>
            </a:r>
          </a:p>
        </p:txBody>
      </p:sp>
      <p:sp>
        <p:nvSpPr>
          <p:cNvPr id="4" name="TextBox 3">
            <a:extLst>
              <a:ext uri="{FF2B5EF4-FFF2-40B4-BE49-F238E27FC236}">
                <a16:creationId xmlns:a16="http://schemas.microsoft.com/office/drawing/2014/main" id="{75CE7386-E5B5-CEBE-6D1F-C63ABC5065A6}"/>
              </a:ext>
            </a:extLst>
          </p:cNvPr>
          <p:cNvSpPr txBox="1"/>
          <p:nvPr/>
        </p:nvSpPr>
        <p:spPr>
          <a:xfrm>
            <a:off x="594360" y="2217420"/>
            <a:ext cx="12969240" cy="70173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
              <a:buChar char="•"/>
            </a:pPr>
            <a:r>
              <a:rPr lang="en-US" sz="4800">
                <a:ea typeface="+mn-lt"/>
                <a:cs typeface="+mn-lt"/>
              </a:rPr>
              <a:t>Variable batch sizing can improve over a fixed average batch </a:t>
            </a:r>
            <a:endParaRPr lang="en-US" sz="4800">
              <a:ea typeface="Calibri"/>
              <a:cs typeface="Calibri"/>
            </a:endParaRPr>
          </a:p>
          <a:p>
            <a:pPr marL="285750" indent="-285750">
              <a:lnSpc>
                <a:spcPct val="150000"/>
              </a:lnSpc>
              <a:buFont typeface="Arial"/>
              <a:buChar char="•"/>
            </a:pPr>
            <a:r>
              <a:rPr lang="en-US" sz="4800">
                <a:ea typeface="+mn-lt"/>
                <a:cs typeface="+mn-lt"/>
              </a:rPr>
              <a:t>Benefits are optimizer- and dataset-dependent </a:t>
            </a:r>
            <a:endParaRPr lang="en-US" sz="4800">
              <a:ea typeface="Calibri"/>
              <a:cs typeface="Calibri"/>
            </a:endParaRPr>
          </a:p>
          <a:p>
            <a:pPr marL="285750" indent="-285750">
              <a:lnSpc>
                <a:spcPct val="150000"/>
              </a:lnSpc>
              <a:buFont typeface="Arial"/>
              <a:buChar char="•"/>
            </a:pPr>
            <a:r>
              <a:rPr lang="en-US" sz="4800">
                <a:ea typeface="+mn-lt"/>
                <a:cs typeface="+mn-lt"/>
              </a:rPr>
              <a:t>Small batches may matter more than the sleep analogy itself </a:t>
            </a:r>
            <a:endParaRPr lang="en-US" sz="4800">
              <a:ea typeface="Calibri"/>
              <a:cs typeface="Calibri"/>
            </a:endParaRPr>
          </a:p>
          <a:p>
            <a:pPr marL="285750" indent="-285750">
              <a:lnSpc>
                <a:spcPct val="150000"/>
              </a:lnSpc>
              <a:buFont typeface="Arial"/>
              <a:buChar char="•"/>
            </a:pPr>
            <a:r>
              <a:rPr lang="en-US" sz="4800">
                <a:ea typeface="+mn-lt"/>
                <a:cs typeface="+mn-lt"/>
              </a:rPr>
              <a:t>The hypothesis is promising but not fully proven</a:t>
            </a:r>
            <a:endParaRPr lang="en-US" sz="4800"/>
          </a:p>
          <a:p>
            <a:pPr algn="l"/>
            <a:endParaRPr lang="en-US">
              <a:ea typeface="Calibri"/>
              <a:cs typeface="Calibri"/>
            </a:endParaRPr>
          </a:p>
        </p:txBody>
      </p:sp>
    </p:spTree>
    <p:extLst>
      <p:ext uri="{BB962C8B-B14F-4D97-AF65-F5344CB8AC3E}">
        <p14:creationId xmlns:p14="http://schemas.microsoft.com/office/powerpoint/2010/main" val="14883918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9FEBD-70A1-16B9-0ADE-17CCF079FF2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4A7FA68-E337-1BEB-461D-53D0A31C0C02}"/>
              </a:ext>
            </a:extLst>
          </p:cNvPr>
          <p:cNvSpPr/>
          <p:nvPr/>
        </p:nvSpPr>
        <p:spPr>
          <a:xfrm rot="3884045">
            <a:off x="13831787" y="523288"/>
            <a:ext cx="12579782" cy="9240422"/>
          </a:xfrm>
          <a:custGeom>
            <a:avLst/>
            <a:gdLst/>
            <a:ahLst/>
            <a:cxnLst/>
            <a:rect l="l" t="t" r="r" b="b"/>
            <a:pathLst>
              <a:path w="12579782" h="9240422">
                <a:moveTo>
                  <a:pt x="0" y="0"/>
                </a:moveTo>
                <a:lnTo>
                  <a:pt x="12579783" y="0"/>
                </a:lnTo>
                <a:lnTo>
                  <a:pt x="12579783" y="9240422"/>
                </a:lnTo>
                <a:lnTo>
                  <a:pt x="0" y="924042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A761B41B-6C68-8035-8218-4F7D6168F83B}"/>
              </a:ext>
            </a:extLst>
          </p:cNvPr>
          <p:cNvSpPr/>
          <p:nvPr/>
        </p:nvSpPr>
        <p:spPr>
          <a:xfrm rot="4823671">
            <a:off x="8862938" y="2146377"/>
            <a:ext cx="16963354" cy="6160958"/>
          </a:xfrm>
          <a:custGeom>
            <a:avLst/>
            <a:gdLst/>
            <a:ahLst/>
            <a:cxnLst/>
            <a:rect l="l" t="t" r="r" b="b"/>
            <a:pathLst>
              <a:path w="16963354" h="6160958">
                <a:moveTo>
                  <a:pt x="0" y="0"/>
                </a:moveTo>
                <a:lnTo>
                  <a:pt x="16963354" y="0"/>
                </a:lnTo>
                <a:lnTo>
                  <a:pt x="16963354" y="6160957"/>
                </a:lnTo>
                <a:lnTo>
                  <a:pt x="0" y="616095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TextBox 6">
            <a:extLst>
              <a:ext uri="{FF2B5EF4-FFF2-40B4-BE49-F238E27FC236}">
                <a16:creationId xmlns:a16="http://schemas.microsoft.com/office/drawing/2014/main" id="{9005D694-C046-DC1D-691D-79559F3461AA}"/>
              </a:ext>
            </a:extLst>
          </p:cNvPr>
          <p:cNvSpPr txBox="1"/>
          <p:nvPr/>
        </p:nvSpPr>
        <p:spPr>
          <a:xfrm>
            <a:off x="578031" y="190500"/>
            <a:ext cx="13380969" cy="1633781"/>
          </a:xfrm>
          <a:prstGeom prst="rect">
            <a:avLst/>
          </a:prstGeom>
        </p:spPr>
        <p:txBody>
          <a:bodyPr wrap="square" lIns="0" tIns="0" rIns="0" bIns="0" rtlCol="0" anchor="t">
            <a:spAutoFit/>
          </a:bodyPr>
          <a:lstStyle/>
          <a:p>
            <a:pPr>
              <a:lnSpc>
                <a:spcPts val="13438"/>
              </a:lnSpc>
              <a:spcBef>
                <a:spcPct val="0"/>
              </a:spcBef>
            </a:pPr>
            <a:r>
              <a:rPr lang="en-US" sz="8000">
                <a:solidFill>
                  <a:srgbClr val="3F0A74"/>
                </a:solidFill>
                <a:latin typeface="Radley"/>
                <a:sym typeface="Radley"/>
              </a:rPr>
              <a:t>Limitations/ Future Work</a:t>
            </a:r>
            <a:endParaRPr lang="en-US" sz="8000">
              <a:ea typeface="Calibri"/>
              <a:cs typeface="Calibri"/>
            </a:endParaRPr>
          </a:p>
        </p:txBody>
      </p:sp>
      <p:sp>
        <p:nvSpPr>
          <p:cNvPr id="4" name="TextBox 3">
            <a:extLst>
              <a:ext uri="{FF2B5EF4-FFF2-40B4-BE49-F238E27FC236}">
                <a16:creationId xmlns:a16="http://schemas.microsoft.com/office/drawing/2014/main" id="{82636CAF-D6F5-8DFA-FAF6-04D639F509EB}"/>
              </a:ext>
            </a:extLst>
          </p:cNvPr>
          <p:cNvSpPr txBox="1"/>
          <p:nvPr/>
        </p:nvSpPr>
        <p:spPr>
          <a:xfrm>
            <a:off x="578031" y="2019300"/>
            <a:ext cx="15712440" cy="57246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buFont typeface="Arial"/>
              <a:buChar char="•"/>
            </a:pPr>
            <a:r>
              <a:rPr lang="en-US" sz="4400">
                <a:ea typeface="+mn-lt"/>
                <a:cs typeface="+mn-lt"/>
              </a:rPr>
              <a:t>Run more experiments with our architecture</a:t>
            </a:r>
          </a:p>
          <a:p>
            <a:pPr>
              <a:lnSpc>
                <a:spcPct val="150000"/>
              </a:lnSpc>
              <a:buFont typeface="Arial"/>
              <a:buChar char="•"/>
            </a:pPr>
            <a:r>
              <a:rPr lang="en-US" sz="4400">
                <a:ea typeface="+mn-lt"/>
                <a:cs typeface="+mn-lt"/>
              </a:rPr>
              <a:t>Run for very high number of epochs</a:t>
            </a:r>
          </a:p>
          <a:p>
            <a:pPr>
              <a:lnSpc>
                <a:spcPct val="150000"/>
              </a:lnSpc>
              <a:buFont typeface="Arial"/>
              <a:buChar char="•"/>
            </a:pPr>
            <a:r>
              <a:rPr lang="en-US" sz="4400">
                <a:ea typeface="+mn-lt"/>
                <a:cs typeface="+mn-lt"/>
              </a:rPr>
              <a:t>Try CIFAR-10 instead of CIFAR-100 for an intermediate benchmark</a:t>
            </a:r>
          </a:p>
          <a:p>
            <a:pPr>
              <a:lnSpc>
                <a:spcPct val="150000"/>
              </a:lnSpc>
              <a:buFont typeface="Arial"/>
              <a:buChar char="•"/>
            </a:pPr>
            <a:r>
              <a:rPr lang="en-US" sz="4400">
                <a:ea typeface="+mn-lt"/>
                <a:cs typeface="+mn-lt"/>
              </a:rPr>
              <a:t>Test more schedules and architectures </a:t>
            </a:r>
          </a:p>
          <a:p>
            <a:pPr>
              <a:lnSpc>
                <a:spcPct val="150000"/>
              </a:lnSpc>
              <a:buFont typeface="Arial"/>
              <a:buChar char="•"/>
            </a:pPr>
            <a:r>
              <a:rPr lang="en-US" sz="4400">
                <a:ea typeface="+mn-lt"/>
                <a:cs typeface="+mn-lt"/>
              </a:rPr>
              <a:t>Tune learning rate jointly with batch size</a:t>
            </a:r>
          </a:p>
          <a:p>
            <a:pPr marL="285750" indent="-285750">
              <a:buFont typeface="Arial"/>
              <a:buChar char="•"/>
            </a:pPr>
            <a:endParaRPr lang="en-US">
              <a:ea typeface="Calibri"/>
              <a:cs typeface="Calibri"/>
            </a:endParaRPr>
          </a:p>
          <a:p>
            <a:pPr algn="l"/>
            <a:endParaRPr lang="en-US">
              <a:ea typeface="Calibri"/>
              <a:cs typeface="Calibri"/>
            </a:endParaRPr>
          </a:p>
        </p:txBody>
      </p:sp>
    </p:spTree>
    <p:extLst>
      <p:ext uri="{BB962C8B-B14F-4D97-AF65-F5344CB8AC3E}">
        <p14:creationId xmlns:p14="http://schemas.microsoft.com/office/powerpoint/2010/main" val="1040883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82782" y="-645910"/>
            <a:ext cx="20626910" cy="11602637"/>
          </a:xfrm>
          <a:custGeom>
            <a:avLst/>
            <a:gdLst/>
            <a:ahLst/>
            <a:cxnLst/>
            <a:rect l="l" t="t" r="r" b="b"/>
            <a:pathLst>
              <a:path w="20626910" h="11602637">
                <a:moveTo>
                  <a:pt x="0" y="0"/>
                </a:moveTo>
                <a:lnTo>
                  <a:pt x="20626910" y="0"/>
                </a:lnTo>
                <a:lnTo>
                  <a:pt x="20626910" y="11602638"/>
                </a:lnTo>
                <a:lnTo>
                  <a:pt x="0" y="1160263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pic>
        <p:nvPicPr>
          <p:cNvPr id="3" name="Picture 3"/>
          <p:cNvPicPr>
            <a:picLocks noChangeAspect="1"/>
          </p:cNvPicPr>
          <p:nvPr/>
        </p:nvPicPr>
        <p:blipFill>
          <a:blip r:embed="rId3">
            <a:alphaModFix amt="16000"/>
          </a:blip>
          <a:srcRect/>
          <a:stretch>
            <a:fillRect/>
          </a:stretch>
        </p:blipFill>
        <p:spPr>
          <a:xfrm rot="10800001">
            <a:off x="-104852" y="7107168"/>
            <a:ext cx="18913340" cy="9393626"/>
          </a:xfrm>
          <a:prstGeom prst="rect">
            <a:avLst/>
          </a:prstGeom>
        </p:spPr>
      </p:pic>
      <p:sp>
        <p:nvSpPr>
          <p:cNvPr id="4" name="Freeform 4"/>
          <p:cNvSpPr/>
          <p:nvPr/>
        </p:nvSpPr>
        <p:spPr>
          <a:xfrm rot="11274711">
            <a:off x="229358" y="4852024"/>
            <a:ext cx="21170116" cy="6319953"/>
          </a:xfrm>
          <a:custGeom>
            <a:avLst/>
            <a:gdLst/>
            <a:ahLst/>
            <a:cxnLst/>
            <a:rect l="l" t="t" r="r" b="b"/>
            <a:pathLst>
              <a:path w="21170116" h="6319953">
                <a:moveTo>
                  <a:pt x="0" y="0"/>
                </a:moveTo>
                <a:lnTo>
                  <a:pt x="21170116" y="0"/>
                </a:lnTo>
                <a:lnTo>
                  <a:pt x="21170116" y="6319953"/>
                </a:lnTo>
                <a:lnTo>
                  <a:pt x="0" y="63199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5" name="Group 5"/>
          <p:cNvGrpSpPr/>
          <p:nvPr/>
        </p:nvGrpSpPr>
        <p:grpSpPr>
          <a:xfrm>
            <a:off x="1236518" y="5841516"/>
            <a:ext cx="4325413" cy="2481296"/>
            <a:chOff x="0" y="-66675"/>
            <a:chExt cx="5767217" cy="3308394"/>
          </a:xfrm>
        </p:grpSpPr>
        <p:sp>
          <p:nvSpPr>
            <p:cNvPr id="6" name="Freeform 6"/>
            <p:cNvSpPr/>
            <p:nvPr/>
          </p:nvSpPr>
          <p:spPr>
            <a:xfrm>
              <a:off x="2413709" y="2301919"/>
              <a:ext cx="939800" cy="939800"/>
            </a:xfrm>
            <a:custGeom>
              <a:avLst/>
              <a:gdLst/>
              <a:ahLst/>
              <a:cxnLst/>
              <a:rect l="l" t="t" r="r" b="b"/>
              <a:pathLst>
                <a:path w="939800" h="939800">
                  <a:moveTo>
                    <a:pt x="0" y="0"/>
                  </a:moveTo>
                  <a:lnTo>
                    <a:pt x="939800" y="0"/>
                  </a:lnTo>
                  <a:lnTo>
                    <a:pt x="939800" y="939800"/>
                  </a:lnTo>
                  <a:lnTo>
                    <a:pt x="0" y="939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TextBox 7"/>
            <p:cNvSpPr txBox="1"/>
            <p:nvPr/>
          </p:nvSpPr>
          <p:spPr>
            <a:xfrm>
              <a:off x="0" y="-66675"/>
              <a:ext cx="5767217" cy="781325"/>
            </a:xfrm>
            <a:prstGeom prst="rect">
              <a:avLst/>
            </a:prstGeom>
          </p:spPr>
          <p:txBody>
            <a:bodyPr lIns="0" tIns="0" rIns="0" bIns="0" rtlCol="0" anchor="t">
              <a:spAutoFit/>
            </a:bodyPr>
            <a:lstStyle/>
            <a:p>
              <a:pPr algn="ctr">
                <a:lnSpc>
                  <a:spcPts val="4759"/>
                </a:lnSpc>
                <a:spcBef>
                  <a:spcPct val="0"/>
                </a:spcBef>
              </a:pPr>
              <a:endParaRPr lang="en-US" sz="3400">
                <a:solidFill>
                  <a:srgbClr val="FFFFFF"/>
                </a:solidFill>
                <a:latin typeface="Radley"/>
                <a:ea typeface="Radley"/>
                <a:cs typeface="Radley"/>
                <a:sym typeface="Radley"/>
              </a:endParaRPr>
            </a:p>
          </p:txBody>
        </p:sp>
      </p:grpSp>
      <p:grpSp>
        <p:nvGrpSpPr>
          <p:cNvPr id="8" name="Group 8"/>
          <p:cNvGrpSpPr/>
          <p:nvPr/>
        </p:nvGrpSpPr>
        <p:grpSpPr>
          <a:xfrm>
            <a:off x="-1976810" y="4510282"/>
            <a:ext cx="22676438" cy="2659231"/>
            <a:chOff x="-11999556" y="-65928"/>
            <a:chExt cx="30235250" cy="3307647"/>
          </a:xfrm>
        </p:grpSpPr>
        <p:sp>
          <p:nvSpPr>
            <p:cNvPr id="9" name="Freeform 9"/>
            <p:cNvSpPr/>
            <p:nvPr/>
          </p:nvSpPr>
          <p:spPr>
            <a:xfrm>
              <a:off x="2413709" y="2301919"/>
              <a:ext cx="939800" cy="939800"/>
            </a:xfrm>
            <a:custGeom>
              <a:avLst/>
              <a:gdLst/>
              <a:ahLst/>
              <a:cxnLst/>
              <a:rect l="l" t="t" r="r" b="b"/>
              <a:pathLst>
                <a:path w="939800" h="939800">
                  <a:moveTo>
                    <a:pt x="0" y="0"/>
                  </a:moveTo>
                  <a:lnTo>
                    <a:pt x="939800" y="0"/>
                  </a:lnTo>
                  <a:lnTo>
                    <a:pt x="939800" y="939800"/>
                  </a:lnTo>
                  <a:lnTo>
                    <a:pt x="0" y="939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TextBox 10"/>
            <p:cNvSpPr txBox="1"/>
            <p:nvPr/>
          </p:nvSpPr>
          <p:spPr>
            <a:xfrm>
              <a:off x="-11999556" y="-65928"/>
              <a:ext cx="30235250" cy="1083631"/>
            </a:xfrm>
            <a:prstGeom prst="rect">
              <a:avLst/>
            </a:prstGeom>
          </p:spPr>
          <p:txBody>
            <a:bodyPr wrap="square" lIns="0" tIns="0" rIns="0" bIns="0" rtlCol="0" anchor="t">
              <a:spAutoFit/>
            </a:bodyPr>
            <a:lstStyle/>
            <a:p>
              <a:pPr algn="ctr">
                <a:lnSpc>
                  <a:spcPts val="4759"/>
                </a:lnSpc>
                <a:spcBef>
                  <a:spcPct val="0"/>
                </a:spcBef>
              </a:pPr>
              <a:r>
                <a:rPr lang="en-US" sz="9600">
                  <a:solidFill>
                    <a:srgbClr val="FFFFFF"/>
                  </a:solidFill>
                  <a:latin typeface="Radley"/>
                  <a:ea typeface="Radley"/>
                  <a:cs typeface="Radley"/>
                  <a:sym typeface="Radley"/>
                </a:rPr>
                <a:t>Thank You! Any Questions?</a:t>
              </a:r>
            </a:p>
          </p:txBody>
        </p:sp>
      </p:grpSp>
      <p:grpSp>
        <p:nvGrpSpPr>
          <p:cNvPr id="11" name="Group 11"/>
          <p:cNvGrpSpPr/>
          <p:nvPr/>
        </p:nvGrpSpPr>
        <p:grpSpPr>
          <a:xfrm>
            <a:off x="12933887" y="3638827"/>
            <a:ext cx="4325413" cy="2481296"/>
            <a:chOff x="0" y="-66675"/>
            <a:chExt cx="5767217" cy="3308394"/>
          </a:xfrm>
        </p:grpSpPr>
        <p:sp>
          <p:nvSpPr>
            <p:cNvPr id="12" name="Freeform 12"/>
            <p:cNvSpPr/>
            <p:nvPr/>
          </p:nvSpPr>
          <p:spPr>
            <a:xfrm>
              <a:off x="2413709" y="2301919"/>
              <a:ext cx="939800" cy="939800"/>
            </a:xfrm>
            <a:custGeom>
              <a:avLst/>
              <a:gdLst/>
              <a:ahLst/>
              <a:cxnLst/>
              <a:rect l="l" t="t" r="r" b="b"/>
              <a:pathLst>
                <a:path w="939800" h="939800">
                  <a:moveTo>
                    <a:pt x="0" y="0"/>
                  </a:moveTo>
                  <a:lnTo>
                    <a:pt x="939800" y="0"/>
                  </a:lnTo>
                  <a:lnTo>
                    <a:pt x="939800" y="939800"/>
                  </a:lnTo>
                  <a:lnTo>
                    <a:pt x="0" y="939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3" name="TextBox 13"/>
            <p:cNvSpPr txBox="1"/>
            <p:nvPr/>
          </p:nvSpPr>
          <p:spPr>
            <a:xfrm>
              <a:off x="0" y="-66675"/>
              <a:ext cx="5767217" cy="781325"/>
            </a:xfrm>
            <a:prstGeom prst="rect">
              <a:avLst/>
            </a:prstGeom>
          </p:spPr>
          <p:txBody>
            <a:bodyPr lIns="0" tIns="0" rIns="0" bIns="0" rtlCol="0" anchor="t">
              <a:spAutoFit/>
            </a:bodyPr>
            <a:lstStyle/>
            <a:p>
              <a:pPr algn="ctr">
                <a:lnSpc>
                  <a:spcPts val="4759"/>
                </a:lnSpc>
                <a:spcBef>
                  <a:spcPct val="0"/>
                </a:spcBef>
              </a:pPr>
              <a:endParaRPr lang="en-US" sz="3400">
                <a:solidFill>
                  <a:srgbClr val="FFFFFF"/>
                </a:solidFill>
                <a:latin typeface="Radley"/>
                <a:ea typeface="Radley"/>
                <a:cs typeface="Radley"/>
                <a:sym typeface="Radley"/>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1601</Words>
  <Application>Microsoft Office PowerPoint</Application>
  <PresentationFormat>Custom</PresentationFormat>
  <Paragraphs>193</Paragraphs>
  <Slides>12</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Cambria Math</vt:lpstr>
      <vt:lpstr>Courier New</vt:lpstr>
      <vt:lpstr>Courier New,monospace</vt:lpstr>
      <vt:lpstr>Aptos</vt:lpstr>
      <vt:lpstr>Radley</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Purple Zodiac Sign Animated Presentation</dc:title>
  <dc:creator>Otten, Liam</dc:creator>
  <cp:lastModifiedBy>Otten, Liam</cp:lastModifiedBy>
  <cp:revision>2</cp:revision>
  <dcterms:created xsi:type="dcterms:W3CDTF">2006-08-16T00:00:00Z</dcterms:created>
  <dcterms:modified xsi:type="dcterms:W3CDTF">2026-09-18T15:33:53Z</dcterms:modified>
  <dc:identifier>DAHIFWZsd1M</dc:identifier>
</cp:coreProperties>
</file>